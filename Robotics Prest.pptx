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72" r:id="rId10"/>
    <p:sldId id="280" r:id="rId11"/>
    <p:sldId id="264" r:id="rId12"/>
    <p:sldId id="265" r:id="rId13"/>
    <p:sldId id="266" r:id="rId14"/>
    <p:sldId id="283" r:id="rId15"/>
    <p:sldId id="284" r:id="rId16"/>
    <p:sldId id="267" r:id="rId17"/>
    <p:sldId id="268" r:id="rId18"/>
    <p:sldId id="269" r:id="rId19"/>
    <p:sldId id="270" r:id="rId20"/>
    <p:sldId id="281" r:id="rId21"/>
    <p:sldId id="271" r:id="rId22"/>
    <p:sldId id="273" r:id="rId23"/>
    <p:sldId id="282" r:id="rId24"/>
    <p:sldId id="274" r:id="rId25"/>
    <p:sldId id="276" r:id="rId26"/>
    <p:sldId id="277" r:id="rId27"/>
    <p:sldId id="278"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21" autoAdjust="0"/>
    <p:restoredTop sz="94660"/>
  </p:normalViewPr>
  <p:slideViewPr>
    <p:cSldViewPr snapToGrid="0">
      <p:cViewPr varScale="1">
        <p:scale>
          <a:sx n="84" d="100"/>
          <a:sy n="84" d="100"/>
        </p:scale>
        <p:origin x="52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951AE-2AD8-408A-B87A-3E142DCE4069}"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27023-331B-4CC7-AA21-1DFCF847D2DC}" type="slidenum">
              <a:rPr lang="en-US" smtClean="0"/>
              <a:t>‹#›</a:t>
            </a:fld>
            <a:endParaRPr lang="en-US"/>
          </a:p>
        </p:txBody>
      </p:sp>
    </p:spTree>
    <p:extLst>
      <p:ext uri="{BB962C8B-B14F-4D97-AF65-F5344CB8AC3E}">
        <p14:creationId xmlns:p14="http://schemas.microsoft.com/office/powerpoint/2010/main" val="3662751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9</a:t>
            </a:fld>
            <a:endParaRPr lang="en-US"/>
          </a:p>
        </p:txBody>
      </p:sp>
    </p:spTree>
    <p:extLst>
      <p:ext uri="{BB962C8B-B14F-4D97-AF65-F5344CB8AC3E}">
        <p14:creationId xmlns:p14="http://schemas.microsoft.com/office/powerpoint/2010/main" val="66450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10</a:t>
            </a:fld>
            <a:endParaRPr lang="en-US"/>
          </a:p>
        </p:txBody>
      </p:sp>
    </p:spTree>
    <p:extLst>
      <p:ext uri="{BB962C8B-B14F-4D97-AF65-F5344CB8AC3E}">
        <p14:creationId xmlns:p14="http://schemas.microsoft.com/office/powerpoint/2010/main" val="1326536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11</a:t>
            </a:fld>
            <a:endParaRPr lang="en-US"/>
          </a:p>
        </p:txBody>
      </p:sp>
    </p:spTree>
    <p:extLst>
      <p:ext uri="{BB962C8B-B14F-4D97-AF65-F5344CB8AC3E}">
        <p14:creationId xmlns:p14="http://schemas.microsoft.com/office/powerpoint/2010/main" val="2378280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13</a:t>
            </a:fld>
            <a:endParaRPr lang="en-US"/>
          </a:p>
        </p:txBody>
      </p:sp>
    </p:spTree>
    <p:extLst>
      <p:ext uri="{BB962C8B-B14F-4D97-AF65-F5344CB8AC3E}">
        <p14:creationId xmlns:p14="http://schemas.microsoft.com/office/powerpoint/2010/main" val="2313168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14</a:t>
            </a:fld>
            <a:endParaRPr lang="en-US"/>
          </a:p>
        </p:txBody>
      </p:sp>
    </p:spTree>
    <p:extLst>
      <p:ext uri="{BB962C8B-B14F-4D97-AF65-F5344CB8AC3E}">
        <p14:creationId xmlns:p14="http://schemas.microsoft.com/office/powerpoint/2010/main" val="3497707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17</a:t>
            </a:fld>
            <a:endParaRPr lang="en-US"/>
          </a:p>
        </p:txBody>
      </p:sp>
    </p:spTree>
    <p:extLst>
      <p:ext uri="{BB962C8B-B14F-4D97-AF65-F5344CB8AC3E}">
        <p14:creationId xmlns:p14="http://schemas.microsoft.com/office/powerpoint/2010/main" val="1664731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18</a:t>
            </a:fld>
            <a:endParaRPr lang="en-US"/>
          </a:p>
        </p:txBody>
      </p:sp>
    </p:spTree>
    <p:extLst>
      <p:ext uri="{BB962C8B-B14F-4D97-AF65-F5344CB8AC3E}">
        <p14:creationId xmlns:p14="http://schemas.microsoft.com/office/powerpoint/2010/main" val="3842617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20</a:t>
            </a:fld>
            <a:endParaRPr lang="en-US"/>
          </a:p>
        </p:txBody>
      </p:sp>
    </p:spTree>
    <p:extLst>
      <p:ext uri="{BB962C8B-B14F-4D97-AF65-F5344CB8AC3E}">
        <p14:creationId xmlns:p14="http://schemas.microsoft.com/office/powerpoint/2010/main" val="4284919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23</a:t>
            </a:fld>
            <a:endParaRPr lang="en-US"/>
          </a:p>
        </p:txBody>
      </p:sp>
    </p:spTree>
    <p:extLst>
      <p:ext uri="{BB962C8B-B14F-4D97-AF65-F5344CB8AC3E}">
        <p14:creationId xmlns:p14="http://schemas.microsoft.com/office/powerpoint/2010/main" val="3783090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24</a:t>
            </a:fld>
            <a:endParaRPr lang="en-US"/>
          </a:p>
        </p:txBody>
      </p:sp>
    </p:spTree>
    <p:extLst>
      <p:ext uri="{BB962C8B-B14F-4D97-AF65-F5344CB8AC3E}">
        <p14:creationId xmlns:p14="http://schemas.microsoft.com/office/powerpoint/2010/main" val="2808078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26</a:t>
            </a:fld>
            <a:endParaRPr lang="en-US"/>
          </a:p>
        </p:txBody>
      </p:sp>
    </p:spTree>
    <p:extLst>
      <p:ext uri="{BB962C8B-B14F-4D97-AF65-F5344CB8AC3E}">
        <p14:creationId xmlns:p14="http://schemas.microsoft.com/office/powerpoint/2010/main" val="2948060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27</a:t>
            </a:fld>
            <a:endParaRPr lang="en-US"/>
          </a:p>
        </p:txBody>
      </p:sp>
    </p:spTree>
    <p:extLst>
      <p:ext uri="{BB962C8B-B14F-4D97-AF65-F5344CB8AC3E}">
        <p14:creationId xmlns:p14="http://schemas.microsoft.com/office/powerpoint/2010/main" val="1586912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627023-331B-4CC7-AA21-1DFCF847D2DC}" type="slidenum">
              <a:rPr lang="en-US" smtClean="0"/>
              <a:t>28</a:t>
            </a:fld>
            <a:endParaRPr lang="en-US"/>
          </a:p>
        </p:txBody>
      </p:sp>
    </p:spTree>
    <p:extLst>
      <p:ext uri="{BB962C8B-B14F-4D97-AF65-F5344CB8AC3E}">
        <p14:creationId xmlns:p14="http://schemas.microsoft.com/office/powerpoint/2010/main" val="1495137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B932-28D4-7A06-6AD4-54203AB2EA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031CC9-1EFC-B3FD-C0C4-580A5A86EA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63B42E-34DB-3753-C9F8-651A514C7098}"/>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5" name="Footer Placeholder 4">
            <a:extLst>
              <a:ext uri="{FF2B5EF4-FFF2-40B4-BE49-F238E27FC236}">
                <a16:creationId xmlns:a16="http://schemas.microsoft.com/office/drawing/2014/main" id="{E030D0E0-8C84-14BF-3B1D-2B5A0BA503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246EA6-DE15-E624-278A-5AFB32D30FA0}"/>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3317326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29852-62E8-74C9-7785-6AF5ABABCA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E7141-E01A-01A7-85AF-61BF85E934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653EEF-2EDC-124B-68F7-5698A16C80D3}"/>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5" name="Footer Placeholder 4">
            <a:extLst>
              <a:ext uri="{FF2B5EF4-FFF2-40B4-BE49-F238E27FC236}">
                <a16:creationId xmlns:a16="http://schemas.microsoft.com/office/drawing/2014/main" id="{460C96F4-B1CB-0571-402D-4E0689DF4E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D0362C-CA84-5D69-D53D-CD303E18F30A}"/>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734040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ADE70-E366-1FDE-AF0A-91BE2A3479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0FFBD2-BA12-0CCC-2960-143D36BEE3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B9879C-9085-2BB6-0572-38429B43CD7B}"/>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5" name="Footer Placeholder 4">
            <a:extLst>
              <a:ext uri="{FF2B5EF4-FFF2-40B4-BE49-F238E27FC236}">
                <a16:creationId xmlns:a16="http://schemas.microsoft.com/office/drawing/2014/main" id="{E85976CA-8983-A088-41D9-69514631A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A90744-6A27-40DA-394F-BDD60A6E50BE}"/>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2566086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3344-0DD2-68DA-2D33-35269F400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12D644-543A-877B-1BEA-96268511D1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FBB9E5-928D-D284-F59A-8572EEF4E2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52F66-7283-8ABE-5C15-88F6F4F220C8}"/>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6" name="Footer Placeholder 5">
            <a:extLst>
              <a:ext uri="{FF2B5EF4-FFF2-40B4-BE49-F238E27FC236}">
                <a16:creationId xmlns:a16="http://schemas.microsoft.com/office/drawing/2014/main" id="{988723CF-C67D-38D8-C342-9CCCEAAC7D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F7C637-6F93-C12A-7F62-867923F28178}"/>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311395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1C8B-BA4A-7850-DD2A-3B1119C934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5BA6A7-53EC-E1F0-8864-9158374BDD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BBF15B-378D-BA08-27C9-E13E07EB90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50D430-F104-1178-3A77-6D4DBA8E2C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C3BD71-F029-507D-C5C3-B03CE2075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97037A-5D21-C036-EC05-7A2F12584504}"/>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8" name="Footer Placeholder 7">
            <a:extLst>
              <a:ext uri="{FF2B5EF4-FFF2-40B4-BE49-F238E27FC236}">
                <a16:creationId xmlns:a16="http://schemas.microsoft.com/office/drawing/2014/main" id="{DCBDD5BA-1476-1B43-AB3B-9C1CF30F27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4F5704-E05A-5A8C-7560-EB9744804418}"/>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275123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47D04-C177-8223-E3F1-1085909A10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78DEA1-5886-4C5B-261E-CCAF297A3C01}"/>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4" name="Footer Placeholder 3">
            <a:extLst>
              <a:ext uri="{FF2B5EF4-FFF2-40B4-BE49-F238E27FC236}">
                <a16:creationId xmlns:a16="http://schemas.microsoft.com/office/drawing/2014/main" id="{3CFA28A7-2357-DCF2-FA9B-C5C8A32B67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708547-34AE-82CD-9D61-939CFCE8CE0A}"/>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1045441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265FD3-EBCA-793C-EAAF-1E427915B0DB}"/>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3" name="Footer Placeholder 2">
            <a:extLst>
              <a:ext uri="{FF2B5EF4-FFF2-40B4-BE49-F238E27FC236}">
                <a16:creationId xmlns:a16="http://schemas.microsoft.com/office/drawing/2014/main" id="{86F12A76-0261-331A-0995-7ABC064D69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511D67-887E-A70A-AEE1-64DD9461011A}"/>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2357220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BDC16-F6F4-B9E8-8AB7-E527005A63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AC7622-9A45-F6B7-B046-7FB1EAE501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B84B74-B106-F3D3-DD5B-9BD694806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67A7-7BFC-734A-DA06-25538C835AA6}"/>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6" name="Footer Placeholder 5">
            <a:extLst>
              <a:ext uri="{FF2B5EF4-FFF2-40B4-BE49-F238E27FC236}">
                <a16:creationId xmlns:a16="http://schemas.microsoft.com/office/drawing/2014/main" id="{1F4A72B3-921A-4ADA-2E2F-2D7487E958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B3BD4A-27CA-8538-7AE8-9FB6EA90984C}"/>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3109816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28D19-FFBC-4B07-5522-2BB3BAEC86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2A628FA-95B8-3A80-7B1A-D7A9DFDA79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44D47-755D-2F69-41D8-2226B428A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B24D62-3D85-08CA-BC97-75071206EA02}"/>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6" name="Footer Placeholder 5">
            <a:extLst>
              <a:ext uri="{FF2B5EF4-FFF2-40B4-BE49-F238E27FC236}">
                <a16:creationId xmlns:a16="http://schemas.microsoft.com/office/drawing/2014/main" id="{EB153399-5C7B-AFEF-0943-EA5640ABB6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103C62-CA2C-B4D9-1B54-BC6E6FBA99DB}"/>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656169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D78AC-996C-001D-1239-763086CA00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4009D3-9102-CB17-F53B-6D6EBBFCF1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395025-681B-4FA7-9B12-8C1651FD2E96}"/>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5" name="Footer Placeholder 4">
            <a:extLst>
              <a:ext uri="{FF2B5EF4-FFF2-40B4-BE49-F238E27FC236}">
                <a16:creationId xmlns:a16="http://schemas.microsoft.com/office/drawing/2014/main" id="{BA5D26E2-4571-D804-140B-A00316F823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94908-B6F2-7247-C967-C7C7D0C85A65}"/>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8420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D412C6-2208-FE08-E734-178CCF5DA5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40204F-B8A8-4B80-3A7F-A704700E1E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D09A9-707E-364B-980B-9B1D8A3711AD}"/>
              </a:ext>
            </a:extLst>
          </p:cNvPr>
          <p:cNvSpPr>
            <a:spLocks noGrp="1"/>
          </p:cNvSpPr>
          <p:nvPr>
            <p:ph type="dt" sz="half" idx="10"/>
          </p:nvPr>
        </p:nvSpPr>
        <p:spPr/>
        <p:txBody>
          <a:bodyPr/>
          <a:lstStyle/>
          <a:p>
            <a:fld id="{3C319E06-83C8-4D18-B391-A4D8C10A1F07}" type="datetimeFigureOut">
              <a:rPr lang="en-US" smtClean="0"/>
              <a:t>12/7/2025</a:t>
            </a:fld>
            <a:endParaRPr lang="en-US"/>
          </a:p>
        </p:txBody>
      </p:sp>
      <p:sp>
        <p:nvSpPr>
          <p:cNvPr id="5" name="Footer Placeholder 4">
            <a:extLst>
              <a:ext uri="{FF2B5EF4-FFF2-40B4-BE49-F238E27FC236}">
                <a16:creationId xmlns:a16="http://schemas.microsoft.com/office/drawing/2014/main" id="{FF5B5497-1103-C957-4757-92101329A5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4A4712-ADC0-3C01-3880-85ECFE2B18C0}"/>
              </a:ext>
            </a:extLst>
          </p:cNvPr>
          <p:cNvSpPr>
            <a:spLocks noGrp="1"/>
          </p:cNvSpPr>
          <p:nvPr>
            <p:ph type="sldNum" sz="quarter" idx="12"/>
          </p:nvPr>
        </p:nvSpPr>
        <p:spPr/>
        <p:txBody>
          <a:bodyPr/>
          <a:lstStyle/>
          <a:p>
            <a:fld id="{BF341AB4-A5CE-4743-B1F3-DB2DACFD76A7}" type="slidenum">
              <a:rPr lang="en-US" smtClean="0"/>
              <a:t>‹#›</a:t>
            </a:fld>
            <a:endParaRPr lang="en-US"/>
          </a:p>
        </p:txBody>
      </p:sp>
    </p:spTree>
    <p:extLst>
      <p:ext uri="{BB962C8B-B14F-4D97-AF65-F5344CB8AC3E}">
        <p14:creationId xmlns:p14="http://schemas.microsoft.com/office/powerpoint/2010/main" val="1283664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0ACC92-501C-1903-3FFD-F5A658001D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86CEE2-3F08-7F2A-E1B8-8746773252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569632-0BA3-F3D0-C4E2-EE85B7A423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319E06-83C8-4D18-B391-A4D8C10A1F07}" type="datetimeFigureOut">
              <a:rPr lang="en-US" smtClean="0"/>
              <a:t>12/7/2025</a:t>
            </a:fld>
            <a:endParaRPr lang="en-US"/>
          </a:p>
        </p:txBody>
      </p:sp>
      <p:sp>
        <p:nvSpPr>
          <p:cNvPr id="5" name="Footer Placeholder 4">
            <a:extLst>
              <a:ext uri="{FF2B5EF4-FFF2-40B4-BE49-F238E27FC236}">
                <a16:creationId xmlns:a16="http://schemas.microsoft.com/office/drawing/2014/main" id="{A2FC56D3-C39A-30C6-0886-C453E03679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A12833-1929-7848-9053-B74DD068DC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341AB4-A5CE-4743-B1F3-DB2DACFD76A7}" type="slidenum">
              <a:rPr lang="en-US" smtClean="0"/>
              <a:t>‹#›</a:t>
            </a:fld>
            <a:endParaRPr lang="en-US"/>
          </a:p>
        </p:txBody>
      </p:sp>
    </p:spTree>
    <p:extLst>
      <p:ext uri="{BB962C8B-B14F-4D97-AF65-F5344CB8AC3E}">
        <p14:creationId xmlns:p14="http://schemas.microsoft.com/office/powerpoint/2010/main" val="3713809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www.cyberbotics.com/doc/guide/ure" TargetMode="External"/><Relationship Id="rId3" Type="http://schemas.openxmlformats.org/officeDocument/2006/relationships/hyperlink" Target="https://cyberbotics.com/doc/reference/nodes-and-api-functions" TargetMode="External"/><Relationship Id="rId7" Type="http://schemas.openxmlformats.org/officeDocument/2006/relationships/hyperlink" Target="https://cyberbotics.com/doc/guide/supervisor-programmin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cyberbotics.com/doc/reference/supervisor" TargetMode="External"/><Relationship Id="rId5" Type="http://schemas.openxmlformats.org/officeDocument/2006/relationships/hyperlink" Target="https://cyberbotics.com/doc/guide/controller-programming" TargetMode="External"/><Relationship Id="rId10" Type="http://schemas.openxmlformats.org/officeDocument/2006/relationships/hyperlink" Target="https://www.cyberbotics.com/doc/reference/distancesensor" TargetMode="External"/><Relationship Id="rId4" Type="http://schemas.openxmlformats.org/officeDocument/2006/relationships/hyperlink" Target="https://www.cyberbotics.com/doc/guide/using-c" TargetMode="External"/><Relationship Id="rId9" Type="http://schemas.openxmlformats.org/officeDocument/2006/relationships/hyperlink" Target="https://cyberbotics.com/doc/reference/camer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135" name="Rectangle 3134">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FA2D7D-0935-EC71-6232-0AA10DC6D424}"/>
              </a:ext>
            </a:extLst>
          </p:cNvPr>
          <p:cNvSpPr>
            <a:spLocks noGrp="1"/>
          </p:cNvSpPr>
          <p:nvPr>
            <p:ph type="ctrTitle"/>
          </p:nvPr>
        </p:nvSpPr>
        <p:spPr>
          <a:xfrm>
            <a:off x="599609" y="679731"/>
            <a:ext cx="4533014" cy="3736540"/>
          </a:xfrm>
        </p:spPr>
        <p:txBody>
          <a:bodyPr>
            <a:normAutofit/>
          </a:bodyPr>
          <a:lstStyle/>
          <a:p>
            <a:pPr algn="l"/>
            <a:r>
              <a:rPr lang="en-US" dirty="0"/>
              <a:t>Industrial Robotic Arm</a:t>
            </a:r>
          </a:p>
        </p:txBody>
      </p:sp>
      <p:sp>
        <p:nvSpPr>
          <p:cNvPr id="3" name="Subtitle 2">
            <a:extLst>
              <a:ext uri="{FF2B5EF4-FFF2-40B4-BE49-F238E27FC236}">
                <a16:creationId xmlns:a16="http://schemas.microsoft.com/office/drawing/2014/main" id="{968D124E-D1D1-4BBC-A52B-6A85029CB465}"/>
              </a:ext>
            </a:extLst>
          </p:cNvPr>
          <p:cNvSpPr>
            <a:spLocks noGrp="1"/>
          </p:cNvSpPr>
          <p:nvPr>
            <p:ph type="subTitle" idx="1"/>
          </p:nvPr>
        </p:nvSpPr>
        <p:spPr>
          <a:xfrm>
            <a:off x="599609" y="4685288"/>
            <a:ext cx="4171994" cy="1035781"/>
          </a:xfrm>
        </p:spPr>
        <p:txBody>
          <a:bodyPr>
            <a:normAutofit/>
          </a:bodyPr>
          <a:lstStyle/>
          <a:p>
            <a:pPr algn="l"/>
            <a:r>
              <a:rPr lang="en-US"/>
              <a:t>Dr.Elshimaa Nabil Nada </a:t>
            </a:r>
          </a:p>
        </p:txBody>
      </p:sp>
      <p:grpSp>
        <p:nvGrpSpPr>
          <p:cNvPr id="3137" name="Group 313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3138" name="Straight Connector 313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139" name="Rectangle 313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41" name="Rectangle 314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9A85F66-3BEB-2089-6536-0800BFC152C1}"/>
              </a:ext>
            </a:extLst>
          </p:cNvPr>
          <p:cNvPicPr>
            <a:picLocks noChangeAspect="1"/>
          </p:cNvPicPr>
          <p:nvPr/>
        </p:nvPicPr>
        <p:blipFill>
          <a:blip r:embed="rId2"/>
          <a:stretch>
            <a:fillRect/>
          </a:stretch>
        </p:blipFill>
        <p:spPr>
          <a:xfrm>
            <a:off x="5640572" y="1466710"/>
            <a:ext cx="5608830" cy="3814004"/>
          </a:xfrm>
          <a:prstGeom prst="rect">
            <a:avLst/>
          </a:prstGeom>
        </p:spPr>
      </p:pic>
    </p:spTree>
    <p:extLst>
      <p:ext uri="{BB962C8B-B14F-4D97-AF65-F5344CB8AC3E}">
        <p14:creationId xmlns:p14="http://schemas.microsoft.com/office/powerpoint/2010/main" val="3084638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E7F33-E8A6-2A93-6D5A-8790D50BD151}"/>
              </a:ext>
            </a:extLst>
          </p:cNvPr>
          <p:cNvSpPr>
            <a:spLocks noGrp="1"/>
          </p:cNvSpPr>
          <p:nvPr>
            <p:ph type="title"/>
          </p:nvPr>
        </p:nvSpPr>
        <p:spPr>
          <a:xfrm>
            <a:off x="1043631" y="809898"/>
            <a:ext cx="9942716" cy="1554480"/>
          </a:xfrm>
        </p:spPr>
        <p:txBody>
          <a:bodyPr anchor="ctr">
            <a:normAutofit/>
          </a:bodyPr>
          <a:lstStyle/>
          <a:p>
            <a:r>
              <a:rPr lang="en-US" sz="4800"/>
              <a:t>Team</a:t>
            </a:r>
          </a:p>
        </p:txBody>
      </p:sp>
      <p:sp>
        <p:nvSpPr>
          <p:cNvPr id="3" name="Content Placeholder 2">
            <a:extLst>
              <a:ext uri="{FF2B5EF4-FFF2-40B4-BE49-F238E27FC236}">
                <a16:creationId xmlns:a16="http://schemas.microsoft.com/office/drawing/2014/main" id="{782310DE-47EB-6482-3145-A8ECC1F1FC48}"/>
              </a:ext>
            </a:extLst>
          </p:cNvPr>
          <p:cNvSpPr>
            <a:spLocks noGrp="1"/>
          </p:cNvSpPr>
          <p:nvPr>
            <p:ph idx="1"/>
          </p:nvPr>
        </p:nvSpPr>
        <p:spPr>
          <a:xfrm>
            <a:off x="1045028" y="2508071"/>
            <a:ext cx="9941319" cy="3833542"/>
          </a:xfrm>
        </p:spPr>
        <p:txBody>
          <a:bodyPr anchor="ctr">
            <a:normAutofit fontScale="92500" lnSpcReduction="10000"/>
          </a:bodyPr>
          <a:lstStyle/>
          <a:p>
            <a:pPr marL="0" indent="0" algn="r">
              <a:buNone/>
            </a:pPr>
            <a:r>
              <a:rPr lang="ar-EG" sz="1800" b="1" dirty="0">
                <a:latin typeface="+mj-lt"/>
              </a:rPr>
              <a:t>محمد محمود محمد غانم </a:t>
            </a:r>
          </a:p>
          <a:p>
            <a:pPr marL="0" indent="0" algn="r">
              <a:buNone/>
            </a:pPr>
            <a:r>
              <a:rPr lang="ar-SA" sz="1800" b="1" dirty="0">
                <a:latin typeface="+mj-lt"/>
              </a:rPr>
              <a:t>أحمد جمال عزقلاني عطية</a:t>
            </a:r>
            <a:endParaRPr lang="ar-EG" sz="1800" b="1" dirty="0">
              <a:latin typeface="+mj-lt"/>
            </a:endParaRPr>
          </a:p>
          <a:p>
            <a:pPr marL="0" indent="0" algn="r">
              <a:buNone/>
            </a:pPr>
            <a:r>
              <a:rPr lang="ar-SA" sz="1800" b="1" dirty="0">
                <a:latin typeface="+mj-lt"/>
              </a:rPr>
              <a:t>أحمد </a:t>
            </a:r>
            <a:r>
              <a:rPr lang="ar-EG" sz="1800" b="1" dirty="0">
                <a:latin typeface="+mj-lt"/>
              </a:rPr>
              <a:t>محمد</a:t>
            </a:r>
            <a:r>
              <a:rPr lang="ar-SA" sz="1800" b="1" dirty="0">
                <a:latin typeface="+mj-lt"/>
              </a:rPr>
              <a:t> سالم </a:t>
            </a:r>
            <a:r>
              <a:rPr lang="ar-EG" sz="1800" b="1" dirty="0"/>
              <a:t>محمد</a:t>
            </a:r>
            <a:endParaRPr lang="ar-SA" sz="1800" b="1" dirty="0">
              <a:latin typeface="+mj-lt"/>
            </a:endParaRPr>
          </a:p>
          <a:p>
            <a:pPr marL="0" indent="0" algn="r">
              <a:buNone/>
            </a:pPr>
            <a:r>
              <a:rPr lang="ar-SA" sz="1800" b="1" dirty="0">
                <a:latin typeface="+mj-lt"/>
              </a:rPr>
              <a:t>حسام صلاح إبراهيم محمود</a:t>
            </a:r>
          </a:p>
          <a:p>
            <a:pPr marL="0" indent="0" algn="r">
              <a:buNone/>
            </a:pPr>
            <a:r>
              <a:rPr lang="ar-SA" sz="1800" b="1" dirty="0">
                <a:latin typeface="+mj-lt"/>
              </a:rPr>
              <a:t>عبد الرحمن علاء أحمد مصلحي السَّيد</a:t>
            </a:r>
          </a:p>
          <a:p>
            <a:pPr marL="0" indent="0" algn="r">
              <a:buNone/>
            </a:pPr>
            <a:r>
              <a:rPr lang="ar-SA" sz="1800" b="1" dirty="0">
                <a:latin typeface="+mj-lt"/>
              </a:rPr>
              <a:t>كريم وائل طلبة </a:t>
            </a:r>
            <a:r>
              <a:rPr lang="ar-EG" sz="1800" b="1" dirty="0"/>
              <a:t>محمد</a:t>
            </a:r>
            <a:endParaRPr lang="ar-SA" sz="1800" b="1" dirty="0">
              <a:latin typeface="+mj-lt"/>
            </a:endParaRPr>
          </a:p>
          <a:p>
            <a:pPr marL="0" indent="0" algn="r">
              <a:buNone/>
            </a:pPr>
            <a:r>
              <a:rPr lang="ar-EG" sz="1800" b="1" dirty="0"/>
              <a:t>محمد</a:t>
            </a:r>
            <a:r>
              <a:rPr lang="ar-SA" sz="1800" b="1" dirty="0">
                <a:latin typeface="+mj-lt"/>
              </a:rPr>
              <a:t> طارق عبد الحافظ عبد الواحد</a:t>
            </a:r>
          </a:p>
          <a:p>
            <a:pPr marL="0" indent="0" algn="r">
              <a:buNone/>
            </a:pPr>
            <a:r>
              <a:rPr lang="ar-EG" sz="1800" b="1" dirty="0"/>
              <a:t>محمد</a:t>
            </a:r>
            <a:r>
              <a:rPr lang="ar-SA" sz="1800" b="1" dirty="0">
                <a:latin typeface="+mj-lt"/>
              </a:rPr>
              <a:t> عبد الحميد فخري عبد الحميد</a:t>
            </a:r>
          </a:p>
          <a:p>
            <a:pPr marL="0" indent="0" algn="r">
              <a:buNone/>
            </a:pPr>
            <a:r>
              <a:rPr lang="ar-EG" sz="1800" b="1" dirty="0"/>
              <a:t>محمد</a:t>
            </a:r>
            <a:r>
              <a:rPr lang="ar-SA" sz="1800" b="1" dirty="0">
                <a:latin typeface="+mj-lt"/>
              </a:rPr>
              <a:t> مصطفى </a:t>
            </a:r>
            <a:r>
              <a:rPr lang="ar-EG" sz="1800" b="1" dirty="0"/>
              <a:t>محمد</a:t>
            </a:r>
            <a:r>
              <a:rPr lang="ar-SA" sz="1800" b="1" dirty="0">
                <a:latin typeface="+mj-lt"/>
              </a:rPr>
              <a:t> أحمد عبد الله</a:t>
            </a:r>
          </a:p>
          <a:p>
            <a:pPr marL="0" indent="0" algn="r">
              <a:buNone/>
            </a:pPr>
            <a:r>
              <a:rPr lang="ar-SA" sz="1800" b="1" dirty="0">
                <a:latin typeface="+mj-lt"/>
              </a:rPr>
              <a:t>مصطفى حسن جاب الله عطية محمود</a:t>
            </a:r>
          </a:p>
          <a:p>
            <a:pPr marL="0" indent="0" algn="r">
              <a:buNone/>
            </a:pPr>
            <a:r>
              <a:rPr lang="ar-SA" sz="1800" b="1" dirty="0">
                <a:latin typeface="+mj-lt"/>
              </a:rPr>
              <a:t>يوسف أسامة السَّيد </a:t>
            </a:r>
            <a:r>
              <a:rPr lang="ar-EG" sz="1800" b="1" dirty="0"/>
              <a:t>محمد</a:t>
            </a:r>
            <a:r>
              <a:rPr lang="ar-SA" sz="1800" b="1" dirty="0">
                <a:latin typeface="+mj-lt"/>
              </a:rPr>
              <a:t> أحمد</a:t>
            </a:r>
            <a:endParaRPr lang="ar-EG" sz="1800" b="1" dirty="0">
              <a:latin typeface="+mj-lt"/>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134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1976C0-9A24-C975-0B3B-9E0AA5D2EE84}"/>
              </a:ext>
            </a:extLst>
          </p:cNvPr>
          <p:cNvSpPr>
            <a:spLocks noGrp="1"/>
          </p:cNvSpPr>
          <p:nvPr>
            <p:ph type="title"/>
          </p:nvPr>
        </p:nvSpPr>
        <p:spPr>
          <a:xfrm>
            <a:off x="808638" y="386930"/>
            <a:ext cx="9236700" cy="1188950"/>
          </a:xfrm>
        </p:spPr>
        <p:txBody>
          <a:bodyPr anchor="b">
            <a:normAutofit/>
          </a:bodyPr>
          <a:lstStyle/>
          <a:p>
            <a:r>
              <a:rPr lang="en-US" sz="5400" dirty="0"/>
              <a:t>Abstract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F5C64E-C8DC-BDEB-4FBA-B67AE804A78E}"/>
              </a:ext>
            </a:extLst>
          </p:cNvPr>
          <p:cNvSpPr>
            <a:spLocks noGrp="1"/>
          </p:cNvSpPr>
          <p:nvPr>
            <p:ph idx="1"/>
          </p:nvPr>
        </p:nvSpPr>
        <p:spPr>
          <a:xfrm>
            <a:off x="793660" y="2275841"/>
            <a:ext cx="10143668" cy="3759200"/>
          </a:xfrm>
        </p:spPr>
        <p:txBody>
          <a:bodyPr anchor="ctr">
            <a:normAutofit lnSpcReduction="10000"/>
          </a:bodyPr>
          <a:lstStyle/>
          <a:p>
            <a:endParaRPr lang="en-US" sz="1700" dirty="0"/>
          </a:p>
          <a:p>
            <a:pPr marL="0" indent="0">
              <a:buNone/>
            </a:pPr>
            <a:r>
              <a:rPr lang="en-US" sz="1700" b="1" dirty="0">
                <a:latin typeface="Arial" panose="020B0604020202020204" pitchFamily="34" charset="0"/>
                <a:cs typeface="Arial" panose="020B0604020202020204" pitchFamily="34" charset="0"/>
              </a:rPr>
              <a:t>1. What (Project Description) </a:t>
            </a:r>
            <a:endParaRPr lang="en-US" sz="17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This project implements an automated fruit-sorting system using a robotic arm with a gripper, camera, and distance sensor. A conveyor belt delivers apples and oranges, and the camera identifies each fruit using image recognition. The distance sensor ensures the fruit is exactly under the gripper before picking it up, providing accurate timing and reliable grasping. After detection and confirmation, the robot collects the fruit and places it into the correct box. The system operates autonomously to achieve fast and accurate sorting.</a:t>
            </a:r>
          </a:p>
          <a:p>
            <a:pPr marL="0" indent="0">
              <a:buNone/>
            </a:pPr>
            <a:endParaRPr lang="en-US" sz="1700" dirty="0">
              <a:latin typeface="Arial" panose="020B0604020202020204" pitchFamily="34" charset="0"/>
              <a:cs typeface="Arial" panose="020B0604020202020204" pitchFamily="34" charset="0"/>
            </a:endParaRPr>
          </a:p>
          <a:p>
            <a:pPr marL="0" indent="0">
              <a:buNone/>
            </a:pPr>
            <a:r>
              <a:rPr lang="en-US" sz="1700" b="1" dirty="0">
                <a:latin typeface="Arial" panose="020B0604020202020204" pitchFamily="34" charset="0"/>
                <a:cs typeface="Arial" panose="020B0604020202020204" pitchFamily="34" charset="0"/>
              </a:rPr>
              <a:t>2. Why (Purpose of the Project) </a:t>
            </a:r>
            <a:endParaRPr lang="en-US" sz="1700" dirty="0">
              <a:latin typeface="Arial" panose="020B0604020202020204" pitchFamily="34" charset="0"/>
              <a:cs typeface="Arial" panose="020B0604020202020204" pitchFamily="34" charset="0"/>
            </a:endParaRPr>
          </a:p>
          <a:p>
            <a:pPr marL="0" indent="0">
              <a:buNone/>
            </a:pPr>
            <a:r>
              <a:rPr lang="en-US" sz="1700" dirty="0">
                <a:latin typeface="Arial" panose="020B0604020202020204" pitchFamily="34" charset="0"/>
                <a:cs typeface="Arial" panose="020B0604020202020204" pitchFamily="34" charset="0"/>
              </a:rPr>
              <a:t>The goal of this project is to automate fruit‑sorting processes in industrial environments. Manual sorting is time‑consuming, error‑prone, and inefficient for large‑scale production. Automation improves accuracy, speed, and consistency while reducing human workload</a:t>
            </a:r>
            <a:r>
              <a:rPr lang="en-US" sz="1700" dirty="0"/>
              <a:t>. </a:t>
            </a:r>
          </a:p>
        </p:txBody>
      </p:sp>
    </p:spTree>
    <p:extLst>
      <p:ext uri="{BB962C8B-B14F-4D97-AF65-F5344CB8AC3E}">
        <p14:creationId xmlns:p14="http://schemas.microsoft.com/office/powerpoint/2010/main" val="826407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CD383-9411-89A9-0D85-53E697535792}"/>
              </a:ext>
            </a:extLst>
          </p:cNvPr>
          <p:cNvSpPr>
            <a:spLocks noGrp="1"/>
          </p:cNvSpPr>
          <p:nvPr>
            <p:ph type="title"/>
          </p:nvPr>
        </p:nvSpPr>
        <p:spPr>
          <a:xfrm>
            <a:off x="1043631" y="809898"/>
            <a:ext cx="9942716" cy="1554480"/>
          </a:xfrm>
        </p:spPr>
        <p:txBody>
          <a:bodyPr anchor="ctr">
            <a:normAutofit/>
          </a:bodyPr>
          <a:lstStyle/>
          <a:p>
            <a:r>
              <a:rPr lang="en-US" sz="4800"/>
              <a:t>Abstract</a:t>
            </a:r>
          </a:p>
        </p:txBody>
      </p:sp>
      <p:sp>
        <p:nvSpPr>
          <p:cNvPr id="3" name="Content Placeholder 2">
            <a:extLst>
              <a:ext uri="{FF2B5EF4-FFF2-40B4-BE49-F238E27FC236}">
                <a16:creationId xmlns:a16="http://schemas.microsoft.com/office/drawing/2014/main" id="{122658E4-BC09-2FE9-48BA-B963FE936B0A}"/>
              </a:ext>
            </a:extLst>
          </p:cNvPr>
          <p:cNvSpPr>
            <a:spLocks noGrp="1"/>
          </p:cNvSpPr>
          <p:nvPr>
            <p:ph idx="1"/>
          </p:nvPr>
        </p:nvSpPr>
        <p:spPr>
          <a:xfrm>
            <a:off x="1045028" y="3017522"/>
            <a:ext cx="9941319" cy="3124658"/>
          </a:xfrm>
        </p:spPr>
        <p:txBody>
          <a:bodyPr anchor="ctr">
            <a:normAutofit/>
          </a:bodyPr>
          <a:lstStyle/>
          <a:p>
            <a:pPr marL="0" indent="0">
              <a:buNone/>
            </a:pPr>
            <a:r>
              <a:rPr lang="en-US" sz="2200" dirty="0"/>
              <a:t> </a:t>
            </a:r>
            <a:r>
              <a:rPr lang="en-US" sz="2200" b="1" dirty="0">
                <a:latin typeface="Arial" panose="020B0604020202020204" pitchFamily="34" charset="0"/>
                <a:cs typeface="Arial" panose="020B0604020202020204" pitchFamily="34" charset="0"/>
              </a:rPr>
              <a:t>3. How (System Design &amp; Methodology) </a:t>
            </a:r>
            <a:endParaRPr lang="en-US" sz="2200" dirty="0">
              <a:latin typeface="Arial" panose="020B0604020202020204" pitchFamily="34" charset="0"/>
              <a:cs typeface="Arial" panose="020B0604020202020204" pitchFamily="34" charset="0"/>
            </a:endParaRPr>
          </a:p>
          <a:p>
            <a:pPr marL="0" indent="0">
              <a:buNone/>
            </a:pPr>
            <a:r>
              <a:rPr lang="en-US" sz="2200" dirty="0">
                <a:latin typeface="Arial" panose="020B0604020202020204" pitchFamily="34" charset="0"/>
                <a:cs typeface="Arial" panose="020B0604020202020204" pitchFamily="34" charset="0"/>
              </a:rPr>
              <a:t>The system was developed using the </a:t>
            </a:r>
            <a:r>
              <a:rPr lang="en-US" sz="2200" dirty="0" err="1">
                <a:latin typeface="Arial" panose="020B0604020202020204" pitchFamily="34" charset="0"/>
                <a:cs typeface="Arial" panose="020B0604020202020204" pitchFamily="34" charset="0"/>
              </a:rPr>
              <a:t>Webots</a:t>
            </a:r>
            <a:r>
              <a:rPr lang="en-US" sz="2200" dirty="0">
                <a:latin typeface="Arial" panose="020B0604020202020204" pitchFamily="34" charset="0"/>
                <a:cs typeface="Arial" panose="020B0604020202020204" pitchFamily="34" charset="0"/>
              </a:rPr>
              <a:t> simulation platform and consists of several integrated components: </a:t>
            </a:r>
          </a:p>
          <a:p>
            <a:pPr lvl="1">
              <a:buFont typeface="Courier New" panose="02070309020205020404" pitchFamily="49" charset="0"/>
              <a:buChar char="o"/>
            </a:pPr>
            <a:r>
              <a:rPr lang="en-US" sz="2000" dirty="0">
                <a:latin typeface="Arial" panose="020B0604020202020204" pitchFamily="34" charset="0"/>
                <a:cs typeface="Arial" panose="020B0604020202020204" pitchFamily="34" charset="0"/>
              </a:rPr>
              <a:t>A robotic arm driven by multiple motors to achieve multi-axis movement. </a:t>
            </a:r>
          </a:p>
          <a:p>
            <a:pPr lvl="1">
              <a:buFont typeface="Courier New" panose="02070309020205020404" pitchFamily="49" charset="0"/>
              <a:buChar char="o"/>
            </a:pPr>
            <a:r>
              <a:rPr lang="en-US" sz="2000" dirty="0">
                <a:latin typeface="Arial" panose="020B0604020202020204" pitchFamily="34" charset="0"/>
                <a:cs typeface="Arial" panose="020B0604020202020204" pitchFamily="34" charset="0"/>
              </a:rPr>
              <a:t>A gripper mechanism designed to securely pick fruits from the conveyor belt. </a:t>
            </a:r>
          </a:p>
          <a:p>
            <a:pPr lvl="1">
              <a:buFont typeface="Courier New" panose="02070309020205020404" pitchFamily="49" charset="0"/>
              <a:buChar char="o"/>
            </a:pPr>
            <a:r>
              <a:rPr lang="en-US" sz="2000" dirty="0">
                <a:latin typeface="Arial" panose="020B0604020202020204" pitchFamily="34" charset="0"/>
                <a:cs typeface="Arial" panose="020B0604020202020204" pitchFamily="34" charset="0"/>
              </a:rPr>
              <a:t>An embedded </a:t>
            </a:r>
            <a:r>
              <a:rPr lang="en-US" sz="2000" dirty="0" err="1">
                <a:latin typeface="Arial" panose="020B0604020202020204" pitchFamily="34" charset="0"/>
                <a:cs typeface="Arial" panose="020B0604020202020204" pitchFamily="34" charset="0"/>
              </a:rPr>
              <a:t>Webots</a:t>
            </a:r>
            <a:r>
              <a:rPr lang="en-US" sz="2000" dirty="0">
                <a:latin typeface="Arial" panose="020B0604020202020204" pitchFamily="34" charset="0"/>
                <a:cs typeface="Arial" panose="020B0604020202020204" pitchFamily="34" charset="0"/>
              </a:rPr>
              <a:t> recognition camera used for detecting and identifying apples and oranges.</a:t>
            </a:r>
          </a:p>
          <a:p>
            <a:pPr marL="0" indent="0">
              <a:buNone/>
            </a:pPr>
            <a:endParaRPr lang="en-US" sz="22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3888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8" name="Rectangle 3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Rectangle 3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B7BD91-5319-0EBF-30E4-446BD9FC5280}"/>
              </a:ext>
            </a:extLst>
          </p:cNvPr>
          <p:cNvSpPr>
            <a:spLocks noGrp="1"/>
          </p:cNvSpPr>
          <p:nvPr>
            <p:ph type="title"/>
          </p:nvPr>
        </p:nvSpPr>
        <p:spPr>
          <a:xfrm>
            <a:off x="1043631" y="873940"/>
            <a:ext cx="4928291" cy="1035781"/>
          </a:xfrm>
        </p:spPr>
        <p:txBody>
          <a:bodyPr anchor="ctr">
            <a:normAutofit/>
          </a:bodyPr>
          <a:lstStyle/>
          <a:p>
            <a:r>
              <a:rPr lang="en-US" sz="3600"/>
              <a:t>Abstract</a:t>
            </a:r>
          </a:p>
        </p:txBody>
      </p:sp>
      <p:sp>
        <p:nvSpPr>
          <p:cNvPr id="3" name="Content Placeholder 2">
            <a:extLst>
              <a:ext uri="{FF2B5EF4-FFF2-40B4-BE49-F238E27FC236}">
                <a16:creationId xmlns:a16="http://schemas.microsoft.com/office/drawing/2014/main" id="{BF9E9E7B-D2AB-9D01-680E-F4F121B5B243}"/>
              </a:ext>
            </a:extLst>
          </p:cNvPr>
          <p:cNvSpPr>
            <a:spLocks noGrp="1"/>
          </p:cNvSpPr>
          <p:nvPr>
            <p:ph idx="1"/>
          </p:nvPr>
        </p:nvSpPr>
        <p:spPr>
          <a:xfrm>
            <a:off x="1045029" y="2524721"/>
            <a:ext cx="4991629" cy="3677123"/>
          </a:xfrm>
        </p:spPr>
        <p:txBody>
          <a:bodyPr anchor="ctr">
            <a:normAutofit/>
          </a:bodyPr>
          <a:lstStyle/>
          <a:p>
            <a:pPr marL="0" indent="0">
              <a:buNone/>
            </a:pPr>
            <a:r>
              <a:rPr lang="en-US" sz="1800" dirty="0">
                <a:latin typeface="Arial" panose="020B0604020202020204" pitchFamily="34" charset="0"/>
                <a:cs typeface="Arial" panose="020B0604020202020204" pitchFamily="34" charset="0"/>
              </a:rPr>
              <a:t>Camera Activation: The camera and its recognition features are enabled using the </a:t>
            </a:r>
            <a:r>
              <a:rPr lang="en-US" sz="1800" dirty="0" err="1">
                <a:latin typeface="Arial" panose="020B0604020202020204" pitchFamily="34" charset="0"/>
                <a:cs typeface="Arial" panose="020B0604020202020204" pitchFamily="34" charset="0"/>
              </a:rPr>
              <a:t>Webots</a:t>
            </a:r>
            <a:r>
              <a:rPr lang="en-US" sz="1800" dirty="0">
                <a:latin typeface="Arial" panose="020B0604020202020204" pitchFamily="34" charset="0"/>
                <a:cs typeface="Arial" panose="020B0604020202020204" pitchFamily="34" charset="0"/>
              </a:rPr>
              <a:t> C API:</a:t>
            </a: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Reading Recognized Objects: The system obtains information about detected fruits through:</a:t>
            </a:r>
          </a:p>
          <a:p>
            <a:pPr marL="0" indent="0">
              <a:buNone/>
            </a:pPr>
            <a:endParaRPr lang="en-US" sz="1800" dirty="0"/>
          </a:p>
        </p:txBody>
      </p:sp>
      <p:sp>
        <p:nvSpPr>
          <p:cNvPr id="41" name="Rectangle 40">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3B9CBD2-F5F6-FA39-58BE-3A3B84FB4DA5}"/>
              </a:ext>
            </a:extLst>
          </p:cNvPr>
          <p:cNvPicPr>
            <a:picLocks noChangeAspect="1"/>
          </p:cNvPicPr>
          <p:nvPr/>
        </p:nvPicPr>
        <p:blipFill>
          <a:blip r:embed="rId2"/>
          <a:stretch>
            <a:fillRect/>
          </a:stretch>
        </p:blipFill>
        <p:spPr>
          <a:xfrm>
            <a:off x="6230867" y="1112186"/>
            <a:ext cx="5745666" cy="2121476"/>
          </a:xfrm>
          <a:prstGeom prst="rect">
            <a:avLst/>
          </a:prstGeom>
        </p:spPr>
      </p:pic>
      <p:sp>
        <p:nvSpPr>
          <p:cNvPr id="42" name="Rectangle 41">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1CA0823-7955-2822-BD5D-4259BF6277A6}"/>
              </a:ext>
            </a:extLst>
          </p:cNvPr>
          <p:cNvPicPr>
            <a:picLocks noChangeAspect="1"/>
          </p:cNvPicPr>
          <p:nvPr/>
        </p:nvPicPr>
        <p:blipFill>
          <a:blip r:embed="rId3"/>
          <a:stretch>
            <a:fillRect/>
          </a:stretch>
        </p:blipFill>
        <p:spPr>
          <a:xfrm>
            <a:off x="6284028" y="4125575"/>
            <a:ext cx="5745666" cy="1915221"/>
          </a:xfrm>
          <a:prstGeom prst="rect">
            <a:avLst/>
          </a:prstGeom>
        </p:spPr>
      </p:pic>
      <p:cxnSp>
        <p:nvCxnSpPr>
          <p:cNvPr id="43" name="Straight Connector 4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3451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49CCEF-BCA4-C174-6112-67640E123505}"/>
              </a:ext>
            </a:extLst>
          </p:cNvPr>
          <p:cNvSpPr>
            <a:spLocks noGrp="1"/>
          </p:cNvSpPr>
          <p:nvPr>
            <p:ph type="title"/>
          </p:nvPr>
        </p:nvSpPr>
        <p:spPr>
          <a:xfrm>
            <a:off x="793662" y="386930"/>
            <a:ext cx="10066122" cy="1298448"/>
          </a:xfrm>
        </p:spPr>
        <p:txBody>
          <a:bodyPr anchor="b">
            <a:normAutofit/>
          </a:bodyPr>
          <a:lstStyle/>
          <a:p>
            <a:r>
              <a:rPr lang="en-US" sz="4800"/>
              <a:t>Abstract</a:t>
            </a:r>
          </a:p>
        </p:txBody>
      </p:sp>
      <p:sp>
        <p:nvSpPr>
          <p:cNvPr id="21" name="Rectangle 2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F791FB-C697-B3B9-FCB0-F2AB6171A14B}"/>
              </a:ext>
            </a:extLst>
          </p:cNvPr>
          <p:cNvSpPr>
            <a:spLocks noGrp="1"/>
          </p:cNvSpPr>
          <p:nvPr>
            <p:ph idx="1"/>
          </p:nvPr>
        </p:nvSpPr>
        <p:spPr>
          <a:xfrm>
            <a:off x="793661" y="2599509"/>
            <a:ext cx="4530898" cy="3639450"/>
          </a:xfrm>
        </p:spPr>
        <p:txBody>
          <a:bodyPr anchor="ctr">
            <a:normAutofit/>
          </a:bodyPr>
          <a:lstStyle/>
          <a:p>
            <a:r>
              <a:rPr lang="en-US" sz="1600">
                <a:latin typeface="Arial" panose="020B0604020202020204" pitchFamily="34" charset="0"/>
                <a:cs typeface="Arial" panose="020B0604020202020204" pitchFamily="34" charset="0"/>
              </a:rPr>
              <a:t>Each recognized object contains data such as </a:t>
            </a:r>
            <a:r>
              <a:rPr lang="en-US" sz="1600" b="1">
                <a:latin typeface="Arial" panose="020B0604020202020204" pitchFamily="34" charset="0"/>
                <a:cs typeface="Arial" panose="020B0604020202020204" pitchFamily="34" charset="0"/>
              </a:rPr>
              <a:t>model name</a:t>
            </a: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position</a:t>
            </a:r>
            <a:r>
              <a:rPr lang="en-US" sz="1600">
                <a:latin typeface="Arial" panose="020B0604020202020204" pitchFamily="34" charset="0"/>
                <a:cs typeface="Arial" panose="020B0604020202020204" pitchFamily="34" charset="0"/>
              </a:rPr>
              <a:t>, and </a:t>
            </a:r>
            <a:r>
              <a:rPr lang="en-US" sz="1600" b="1">
                <a:latin typeface="Arial" panose="020B0604020202020204" pitchFamily="34" charset="0"/>
                <a:cs typeface="Arial" panose="020B0604020202020204" pitchFamily="34" charset="0"/>
              </a:rPr>
              <a:t>size</a:t>
            </a:r>
            <a:r>
              <a:rPr lang="en-US" sz="1600">
                <a:latin typeface="Arial" panose="020B0604020202020204" pitchFamily="34" charset="0"/>
                <a:cs typeface="Arial" panose="020B0604020202020204" pitchFamily="34" charset="0"/>
              </a:rPr>
              <a:t>. Fruit classification is performed by examining the </a:t>
            </a:r>
            <a:r>
              <a:rPr lang="en-US" sz="1600" b="1">
                <a:latin typeface="Arial" panose="020B0604020202020204" pitchFamily="34" charset="0"/>
                <a:cs typeface="Arial" panose="020B0604020202020204" pitchFamily="34" charset="0"/>
              </a:rPr>
              <a:t>model string </a:t>
            </a:r>
            <a:r>
              <a:rPr lang="en-US" sz="1600">
                <a:latin typeface="Arial" panose="020B0604020202020204" pitchFamily="34" charset="0"/>
                <a:cs typeface="Arial" panose="020B0604020202020204" pitchFamily="34" charset="0"/>
              </a:rPr>
              <a:t>returned by Webots. If the first character corresponds to ASCII value 97 ('a'), the fruit is classified as an </a:t>
            </a:r>
            <a:r>
              <a:rPr lang="en-US" sz="1600" b="1">
                <a:latin typeface="Arial" panose="020B0604020202020204" pitchFamily="34" charset="0"/>
                <a:cs typeface="Arial" panose="020B0604020202020204" pitchFamily="34" charset="0"/>
              </a:rPr>
              <a:t>apple</a:t>
            </a:r>
            <a:r>
              <a:rPr lang="en-US" sz="1600">
                <a:latin typeface="Arial" panose="020B0604020202020204" pitchFamily="34" charset="0"/>
                <a:cs typeface="Arial" panose="020B0604020202020204" pitchFamily="34" charset="0"/>
              </a:rPr>
              <a:t>; otherwise, it is identified as an </a:t>
            </a:r>
            <a:r>
              <a:rPr lang="en-US" sz="1600" b="1">
                <a:latin typeface="Arial" panose="020B0604020202020204" pitchFamily="34" charset="0"/>
                <a:cs typeface="Arial" panose="020B0604020202020204" pitchFamily="34" charset="0"/>
              </a:rPr>
              <a:t>orange</a:t>
            </a:r>
            <a:r>
              <a:rPr lang="en-US" sz="1600">
                <a:latin typeface="Arial" panose="020B0604020202020204" pitchFamily="34" charset="0"/>
                <a:cs typeface="Arial" panose="020B0604020202020204" pitchFamily="34" charset="0"/>
              </a:rPr>
              <a:t>. </a:t>
            </a:r>
          </a:p>
          <a:p>
            <a:r>
              <a:rPr lang="en-US" sz="1600">
                <a:latin typeface="Arial" panose="020B0604020202020204" pitchFamily="34" charset="0"/>
                <a:cs typeface="Arial" panose="020B0604020202020204" pitchFamily="34" charset="0"/>
              </a:rPr>
              <a:t>Sorting Mechanism: Once the fruit type is determined, the microcontroller processes the recognition data and commands the robotic arm. The arm moves to the correct position, grips the fruit, and places it into the designated box, ensuring accurate and automated sorting</a:t>
            </a:r>
          </a:p>
        </p:txBody>
      </p:sp>
      <p:pic>
        <p:nvPicPr>
          <p:cNvPr id="6" name="Picture 5">
            <a:extLst>
              <a:ext uri="{FF2B5EF4-FFF2-40B4-BE49-F238E27FC236}">
                <a16:creationId xmlns:a16="http://schemas.microsoft.com/office/drawing/2014/main" id="{72709098-C875-D034-DDC1-5186343052F3}"/>
              </a:ext>
            </a:extLst>
          </p:cNvPr>
          <p:cNvPicPr>
            <a:picLocks noChangeAspect="1"/>
          </p:cNvPicPr>
          <p:nvPr/>
        </p:nvPicPr>
        <p:blipFill>
          <a:blip r:embed="rId2"/>
          <a:stretch>
            <a:fillRect/>
          </a:stretch>
        </p:blipFill>
        <p:spPr>
          <a:xfrm>
            <a:off x="5911532" y="3166382"/>
            <a:ext cx="5150277" cy="2349989"/>
          </a:xfrm>
          <a:prstGeom prst="rect">
            <a:avLst/>
          </a:prstGeom>
          <a:ln>
            <a:noFill/>
          </a:ln>
          <a:effectLst>
            <a:softEdge rad="112500"/>
          </a:effectLst>
        </p:spPr>
      </p:pic>
      <p:sp>
        <p:nvSpPr>
          <p:cNvPr id="25" name="Rectangle 2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1859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EDCF69-B7C2-1167-AFEC-4165271A9E1D}"/>
              </a:ext>
            </a:extLst>
          </p:cNvPr>
          <p:cNvSpPr>
            <a:spLocks noGrp="1"/>
          </p:cNvSpPr>
          <p:nvPr>
            <p:ph type="title"/>
          </p:nvPr>
        </p:nvSpPr>
        <p:spPr>
          <a:xfrm>
            <a:off x="589560" y="856180"/>
            <a:ext cx="4560584" cy="1128068"/>
          </a:xfrm>
        </p:spPr>
        <p:txBody>
          <a:bodyPr anchor="ctr">
            <a:normAutofit/>
          </a:bodyPr>
          <a:lstStyle/>
          <a:p>
            <a:r>
              <a:rPr lang="en-US" sz="4000" dirty="0"/>
              <a:t>Abstract</a:t>
            </a:r>
          </a:p>
        </p:txBody>
      </p:sp>
      <p:grpSp>
        <p:nvGrpSpPr>
          <p:cNvPr id="16" name="Group 1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 name="Rectangle 1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5BBC75-639B-6524-B48F-3802989F85CA}"/>
              </a:ext>
            </a:extLst>
          </p:cNvPr>
          <p:cNvSpPr>
            <a:spLocks noGrp="1"/>
          </p:cNvSpPr>
          <p:nvPr>
            <p:ph idx="1"/>
          </p:nvPr>
        </p:nvSpPr>
        <p:spPr>
          <a:xfrm>
            <a:off x="590719" y="2330505"/>
            <a:ext cx="4559425" cy="3979585"/>
          </a:xfrm>
        </p:spPr>
        <p:txBody>
          <a:bodyPr anchor="ctr">
            <a:normAutofit/>
          </a:bodyPr>
          <a:lstStyle/>
          <a:p>
            <a:pPr marL="0" indent="0">
              <a:buNone/>
            </a:pPr>
            <a:r>
              <a:rPr lang="en-US" sz="2000" b="1" dirty="0">
                <a:latin typeface="Arial" panose="020B0604020202020204" pitchFamily="34" charset="0"/>
                <a:cs typeface="Arial" panose="020B0604020202020204" pitchFamily="34" charset="0"/>
              </a:rPr>
              <a:t>4. Results </a:t>
            </a: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The robotic arm successfully detected, picked, and sorted apples and oranges based on real‑time camera input. The system operated smoothly during conveyor movement, and the arm accurately placed each fruit in its designated box.</a:t>
            </a:r>
          </a:p>
        </p:txBody>
      </p:sp>
      <p:sp>
        <p:nvSpPr>
          <p:cNvPr id="22" name="Rectangle 2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machine with a pipe and a container&#10;&#10;AI-generated content may be incorrect.">
            <a:extLst>
              <a:ext uri="{FF2B5EF4-FFF2-40B4-BE49-F238E27FC236}">
                <a16:creationId xmlns:a16="http://schemas.microsoft.com/office/drawing/2014/main" id="{0C11FDC1-920F-CAF3-8583-7251C0D92BF7}"/>
              </a:ext>
            </a:extLst>
          </p:cNvPr>
          <p:cNvPicPr>
            <a:picLocks noChangeAspect="1"/>
          </p:cNvPicPr>
          <p:nvPr/>
        </p:nvPicPr>
        <p:blipFill>
          <a:blip r:embed="rId2">
            <a:extLst>
              <a:ext uri="{28A0092B-C50C-407E-A947-70E740481C1C}">
                <a14:useLocalDpi xmlns:a14="http://schemas.microsoft.com/office/drawing/2010/main" val="0"/>
              </a:ext>
            </a:extLst>
          </a:blip>
          <a:srcRect l="13197" r="34708"/>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406579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3C952D-CB0A-E945-4489-F54E2AB3D0B6}"/>
              </a:ext>
            </a:extLst>
          </p:cNvPr>
          <p:cNvSpPr>
            <a:spLocks noGrp="1"/>
          </p:cNvSpPr>
          <p:nvPr>
            <p:ph type="title"/>
          </p:nvPr>
        </p:nvSpPr>
        <p:spPr>
          <a:xfrm>
            <a:off x="808638" y="386930"/>
            <a:ext cx="9236700" cy="1188950"/>
          </a:xfrm>
        </p:spPr>
        <p:txBody>
          <a:bodyPr anchor="b">
            <a:normAutofit/>
          </a:bodyPr>
          <a:lstStyle/>
          <a:p>
            <a:r>
              <a:rPr lang="en-US" sz="5400" dirty="0"/>
              <a:t>Abstract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150652F-0BD1-88FD-CA8D-9A1857C3B74D}"/>
              </a:ext>
            </a:extLst>
          </p:cNvPr>
          <p:cNvSpPr>
            <a:spLocks noGrp="1"/>
          </p:cNvSpPr>
          <p:nvPr>
            <p:ph idx="1"/>
          </p:nvPr>
        </p:nvSpPr>
        <p:spPr>
          <a:xfrm>
            <a:off x="902113" y="2203079"/>
            <a:ext cx="10143668" cy="3435531"/>
          </a:xfrm>
        </p:spPr>
        <p:txBody>
          <a:bodyPr anchor="ctr">
            <a:normAutofit/>
          </a:bodyPr>
          <a:lstStyle/>
          <a:p>
            <a:pPr marL="0" indent="0">
              <a:buNone/>
            </a:pPr>
            <a:r>
              <a:rPr lang="en-US" sz="2400" b="1" dirty="0">
                <a:latin typeface="Arial" panose="020B0604020202020204" pitchFamily="34" charset="0"/>
                <a:cs typeface="Arial" panose="020B0604020202020204" pitchFamily="34" charset="0"/>
              </a:rPr>
              <a:t>5. Conclusion </a:t>
            </a:r>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The fruit‑sorting system demonstrates an effective use of robotics and embedded systems for industrial automation. The project shows how integrating mechanical actuation, computer vision, and real‑time control can significantly improve production line efficiency. This approach can be expanded for sorting different items and scaled for industrial applications</a:t>
            </a:r>
          </a:p>
        </p:txBody>
      </p:sp>
    </p:spTree>
    <p:extLst>
      <p:ext uri="{BB962C8B-B14F-4D97-AF65-F5344CB8AC3E}">
        <p14:creationId xmlns:p14="http://schemas.microsoft.com/office/powerpoint/2010/main" val="1729554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9D8233B0-41B5-4D9A-AEEC-13DB66A8C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39DADF-61AA-E430-078D-B3608DC29D53}"/>
              </a:ext>
            </a:extLst>
          </p:cNvPr>
          <p:cNvSpPr>
            <a:spLocks noGrp="1"/>
          </p:cNvSpPr>
          <p:nvPr>
            <p:ph type="title"/>
          </p:nvPr>
        </p:nvSpPr>
        <p:spPr>
          <a:xfrm>
            <a:off x="808638" y="386930"/>
            <a:ext cx="9236700" cy="1188950"/>
          </a:xfrm>
        </p:spPr>
        <p:txBody>
          <a:bodyPr anchor="b">
            <a:normAutofit/>
          </a:bodyPr>
          <a:lstStyle/>
          <a:p>
            <a:r>
              <a:rPr lang="en-US" sz="5400"/>
              <a:t>Literature Review</a:t>
            </a:r>
          </a:p>
        </p:txBody>
      </p:sp>
      <p:grpSp>
        <p:nvGrpSpPr>
          <p:cNvPr id="102" name="Group 10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03" name="Rectangle 10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 name="Rectangle 10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7CFCBE22-E189-431D-F6ED-FC5C0D111209}"/>
              </a:ext>
            </a:extLst>
          </p:cNvPr>
          <p:cNvGraphicFramePr>
            <a:graphicFrameLocks noGrp="1"/>
          </p:cNvGraphicFramePr>
          <p:nvPr>
            <p:ph idx="1"/>
            <p:extLst>
              <p:ext uri="{D42A27DB-BD31-4B8C-83A1-F6EECF244321}">
                <p14:modId xmlns:p14="http://schemas.microsoft.com/office/powerpoint/2010/main" val="236430999"/>
              </p:ext>
            </p:extLst>
          </p:nvPr>
        </p:nvGraphicFramePr>
        <p:xfrm>
          <a:off x="803460" y="2290840"/>
          <a:ext cx="10038156" cy="3972322"/>
        </p:xfrm>
        <a:graphic>
          <a:graphicData uri="http://schemas.openxmlformats.org/drawingml/2006/table">
            <a:tbl>
              <a:tblPr>
                <a:tableStyleId>{ED083AE6-46FA-4A59-8FB0-9F97EB10719F}</a:tableStyleId>
              </a:tblPr>
              <a:tblGrid>
                <a:gridCol w="1689563">
                  <a:extLst>
                    <a:ext uri="{9D8B030D-6E8A-4147-A177-3AD203B41FA5}">
                      <a16:colId xmlns:a16="http://schemas.microsoft.com/office/drawing/2014/main" val="397239007"/>
                    </a:ext>
                  </a:extLst>
                </a:gridCol>
                <a:gridCol w="3384351">
                  <a:extLst>
                    <a:ext uri="{9D8B030D-6E8A-4147-A177-3AD203B41FA5}">
                      <a16:colId xmlns:a16="http://schemas.microsoft.com/office/drawing/2014/main" val="544316420"/>
                    </a:ext>
                  </a:extLst>
                </a:gridCol>
                <a:gridCol w="2107982">
                  <a:extLst>
                    <a:ext uri="{9D8B030D-6E8A-4147-A177-3AD203B41FA5}">
                      <a16:colId xmlns:a16="http://schemas.microsoft.com/office/drawing/2014/main" val="538215983"/>
                    </a:ext>
                  </a:extLst>
                </a:gridCol>
                <a:gridCol w="2856260">
                  <a:extLst>
                    <a:ext uri="{9D8B030D-6E8A-4147-A177-3AD203B41FA5}">
                      <a16:colId xmlns:a16="http://schemas.microsoft.com/office/drawing/2014/main" val="399778503"/>
                    </a:ext>
                  </a:extLst>
                </a:gridCol>
              </a:tblGrid>
              <a:tr h="178518">
                <a:tc>
                  <a:txBody>
                    <a:bodyPr/>
                    <a:lstStyle/>
                    <a:p>
                      <a:pPr algn="l" fontAlgn="ctr">
                        <a:buNone/>
                      </a:pPr>
                      <a:r>
                        <a:rPr lang="en-US" sz="1050" b="1" u="none" strike="noStrike">
                          <a:effectLst/>
                          <a:latin typeface="Arial" panose="020B0604020202020204" pitchFamily="34" charset="0"/>
                          <a:cs typeface="Arial" panose="020B0604020202020204" pitchFamily="34" charset="0"/>
                        </a:rPr>
                        <a:t>Topic / Area</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1" u="none" strike="noStrike">
                          <a:effectLst/>
                          <a:latin typeface="Arial" panose="020B0604020202020204" pitchFamily="34" charset="0"/>
                          <a:cs typeface="Arial" panose="020B0604020202020204" pitchFamily="34" charset="0"/>
                        </a:rPr>
                        <a:t>Key Findings from Literature</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1" u="none" strike="noStrike">
                          <a:effectLst/>
                          <a:latin typeface="Arial" panose="020B0604020202020204" pitchFamily="34" charset="0"/>
                          <a:cs typeface="Arial" panose="020B0604020202020204" pitchFamily="34" charset="0"/>
                        </a:rPr>
                        <a:t>Technologies Used in Research</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1" u="none" strike="noStrike">
                          <a:effectLst/>
                          <a:latin typeface="Arial" panose="020B0604020202020204" pitchFamily="34" charset="0"/>
                          <a:cs typeface="Arial" panose="020B0604020202020204" pitchFamily="34" charset="0"/>
                        </a:rPr>
                        <a:t>Relevance to Your Project</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608824888"/>
                  </a:ext>
                </a:extLst>
              </a:tr>
              <a:tr h="311056">
                <a:tc>
                  <a:txBody>
                    <a:bodyPr/>
                    <a:lstStyle/>
                    <a:p>
                      <a:pPr algn="l" fontAlgn="ctr">
                        <a:buNone/>
                      </a:pPr>
                      <a:r>
                        <a:rPr lang="en-US" sz="1050" b="1" u="none" strike="noStrike" dirty="0">
                          <a:effectLst/>
                          <a:latin typeface="Arial" panose="020B0604020202020204" pitchFamily="34" charset="0"/>
                          <a:cs typeface="Arial" panose="020B0604020202020204" pitchFamily="34" charset="0"/>
                        </a:rPr>
                        <a:t>Automated Fruit Sorting Systems</a:t>
                      </a:r>
                      <a:endParaRPr lang="en-US" sz="1050" b="0" i="0" u="none" strike="noStrike" dirty="0">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Automation improves speed, accuracy, and consistency compared to manual sorting. Early systems relied on simple mechanical grading.</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Conveyor belts, mechanical graders, RGB cameras</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Your system uses a conveyor + camera setup and replaces manual sorting with robotic automation.</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2642191336"/>
                  </a:ext>
                </a:extLst>
              </a:tr>
              <a:tr h="311056">
                <a:tc>
                  <a:txBody>
                    <a:bodyPr/>
                    <a:lstStyle/>
                    <a:p>
                      <a:pPr algn="l" fontAlgn="ctr">
                        <a:buNone/>
                      </a:pPr>
                      <a:r>
                        <a:rPr lang="en-US" sz="1050" b="1" u="none" strike="noStrike">
                          <a:effectLst/>
                          <a:latin typeface="Arial" panose="020B0604020202020204" pitchFamily="34" charset="0"/>
                          <a:cs typeface="Arial" panose="020B0604020202020204" pitchFamily="34" charset="0"/>
                        </a:rPr>
                        <a:t>Machine Vision in Sorting</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Color, shape, and texture are the most common features used to classify fruits. Recent systems use deep learning for high accuracy.</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RGB/HSV color segmentation, CNNs, YOLO, OpenCV</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You classify fruits by </a:t>
                      </a:r>
                      <a:r>
                        <a:rPr lang="en-US" sz="1050" b="1" u="none" strike="noStrike">
                          <a:effectLst/>
                          <a:latin typeface="Arial" panose="020B0604020202020204" pitchFamily="34" charset="0"/>
                          <a:cs typeface="Arial" panose="020B0604020202020204" pitchFamily="34" charset="0"/>
                        </a:rPr>
                        <a:t>color detection</a:t>
                      </a:r>
                      <a:r>
                        <a:rPr lang="en-US" sz="1050" b="0" u="none" strike="noStrike">
                          <a:effectLst/>
                          <a:latin typeface="Arial" panose="020B0604020202020204" pitchFamily="34" charset="0"/>
                          <a:cs typeface="Arial" panose="020B0604020202020204" pitchFamily="34" charset="0"/>
                        </a:rPr>
                        <a:t>, similar to early machine vision research.</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161338778"/>
                  </a:ext>
                </a:extLst>
              </a:tr>
              <a:tr h="443595">
                <a:tc>
                  <a:txBody>
                    <a:bodyPr/>
                    <a:lstStyle/>
                    <a:p>
                      <a:pPr algn="l" fontAlgn="ctr">
                        <a:buNone/>
                      </a:pPr>
                      <a:r>
                        <a:rPr lang="en-US" sz="1050" b="1" u="none" strike="noStrike">
                          <a:effectLst/>
                          <a:latin typeface="Arial" panose="020B0604020202020204" pitchFamily="34" charset="0"/>
                          <a:cs typeface="Arial" panose="020B0604020202020204" pitchFamily="34" charset="0"/>
                        </a:rPr>
                        <a:t>Robotic Arms in Agriculture &amp; Industry</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UR5/UR5e are widely used due to precision, flexibility, and ease of integration. Manipulators improve throughput and reduce human labor.</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UR5, 6-DOF arms, IK solvers, ROS, Webots</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Your project uses a </a:t>
                      </a:r>
                      <a:r>
                        <a:rPr lang="en-US" sz="1050" b="1" u="none" strike="noStrike">
                          <a:effectLst/>
                          <a:latin typeface="Arial" panose="020B0604020202020204" pitchFamily="34" charset="0"/>
                          <a:cs typeface="Arial" panose="020B0604020202020204" pitchFamily="34" charset="0"/>
                        </a:rPr>
                        <a:t>UR5-like robotic arm</a:t>
                      </a:r>
                      <a:r>
                        <a:rPr lang="en-US" sz="1050" b="0" u="none" strike="noStrike">
                          <a:effectLst/>
                          <a:latin typeface="Arial" panose="020B0604020202020204" pitchFamily="34" charset="0"/>
                          <a:cs typeface="Arial" panose="020B0604020202020204" pitchFamily="34" charset="0"/>
                        </a:rPr>
                        <a:t> in Webots for pick-and-place sorting.</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161008972"/>
                  </a:ext>
                </a:extLst>
              </a:tr>
              <a:tr h="311056">
                <a:tc>
                  <a:txBody>
                    <a:bodyPr/>
                    <a:lstStyle/>
                    <a:p>
                      <a:pPr algn="l" fontAlgn="ctr">
                        <a:buNone/>
                      </a:pPr>
                      <a:r>
                        <a:rPr lang="en-US" sz="1050" b="1" u="none" strike="noStrike">
                          <a:effectLst/>
                          <a:latin typeface="Arial" panose="020B0604020202020204" pitchFamily="34" charset="0"/>
                          <a:cs typeface="Arial" panose="020B0604020202020204" pitchFamily="34" charset="0"/>
                        </a:rPr>
                        <a:t>Real-Time Pick-and-Place Control</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Accurate grasping requires correct timing, IK control, and object pose estimation. Moving conveyors add complexity.</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Inverse kinematics, Trajectory planning, Vision-based pose estimation</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Your controller uses IK and object tracking to pick fruits from a moving belt.</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1385487258"/>
                  </a:ext>
                </a:extLst>
              </a:tr>
              <a:tr h="311056">
                <a:tc>
                  <a:txBody>
                    <a:bodyPr/>
                    <a:lstStyle/>
                    <a:p>
                      <a:pPr algn="l" fontAlgn="ctr">
                        <a:buNone/>
                      </a:pPr>
                      <a:r>
                        <a:rPr lang="en-US" sz="1050" b="1" u="none" strike="noStrike">
                          <a:effectLst/>
                          <a:latin typeface="Arial" panose="020B0604020202020204" pitchFamily="34" charset="0"/>
                          <a:cs typeface="Arial" panose="020B0604020202020204" pitchFamily="34" charset="0"/>
                        </a:rPr>
                        <a:t>Conveyor Belt Automation</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Conveyors ensure continuous, uniform fruit flow. Synchronizing robot timing with conveyor motion is crucial.</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Adjustable-speed conveyors, encoders, sensors</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You simulate a conveyor at </a:t>
                      </a:r>
                      <a:r>
                        <a:rPr lang="en-US" sz="1050" b="1" u="none" strike="noStrike">
                          <a:effectLst/>
                          <a:latin typeface="Arial" panose="020B0604020202020204" pitchFamily="34" charset="0"/>
                          <a:cs typeface="Arial" panose="020B0604020202020204" pitchFamily="34" charset="0"/>
                        </a:rPr>
                        <a:t>0.15 m/s</a:t>
                      </a:r>
                      <a:r>
                        <a:rPr lang="en-US" sz="1050" b="0" u="none" strike="noStrike">
                          <a:effectLst/>
                          <a:latin typeface="Arial" panose="020B0604020202020204" pitchFamily="34" charset="0"/>
                          <a:cs typeface="Arial" panose="020B0604020202020204" pitchFamily="34" charset="0"/>
                        </a:rPr>
                        <a:t> for continuous fruit feeding.</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1721619145"/>
                  </a:ext>
                </a:extLst>
              </a:tr>
              <a:tr h="311056">
                <a:tc>
                  <a:txBody>
                    <a:bodyPr/>
                    <a:lstStyle/>
                    <a:p>
                      <a:pPr algn="l" fontAlgn="ctr">
                        <a:buNone/>
                      </a:pPr>
                      <a:r>
                        <a:rPr lang="en-US" sz="1050" b="1" u="none" strike="noStrike">
                          <a:effectLst/>
                          <a:latin typeface="Arial" panose="020B0604020202020204" pitchFamily="34" charset="0"/>
                          <a:cs typeface="Arial" panose="020B0604020202020204" pitchFamily="34" charset="0"/>
                        </a:rPr>
                        <a:t>Fruit Classification Research</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Classification research spans apples, oranges, mangoes, tomatoes, etc. Methods include color-based and deep-learning models.</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CNNs, SVM, Color histograms, Multispectral imaging</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Demonstrates how your simple two-class system (Apple/Orange) fits into broader classification studies.</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155628264"/>
                  </a:ext>
                </a:extLst>
              </a:tr>
              <a:tr h="311056">
                <a:tc>
                  <a:txBody>
                    <a:bodyPr/>
                    <a:lstStyle/>
                    <a:p>
                      <a:pPr algn="l" fontAlgn="ctr">
                        <a:buNone/>
                      </a:pPr>
                      <a:r>
                        <a:rPr lang="en-US" sz="1050" b="1" u="none" strike="noStrike">
                          <a:effectLst/>
                          <a:latin typeface="Arial" panose="020B0604020202020204" pitchFamily="34" charset="0"/>
                          <a:cs typeface="Arial" panose="020B0604020202020204" pitchFamily="34" charset="0"/>
                        </a:rPr>
                        <a:t>Sorting Accuracy &amp; Performance</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Studies show automation improves throughput and reduces errors from human fatigue.</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High-resolution cameras, PLC/SCADA systems</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Your project targets similar performance goals through simulation.</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2436268316"/>
                  </a:ext>
                </a:extLst>
              </a:tr>
              <a:tr h="311056">
                <a:tc>
                  <a:txBody>
                    <a:bodyPr/>
                    <a:lstStyle/>
                    <a:p>
                      <a:pPr algn="l" fontAlgn="ctr">
                        <a:buNone/>
                      </a:pPr>
                      <a:r>
                        <a:rPr lang="en-US" sz="1050" b="1" u="none" strike="noStrike" dirty="0">
                          <a:effectLst/>
                          <a:latin typeface="Arial" panose="020B0604020202020204" pitchFamily="34" charset="0"/>
                          <a:cs typeface="Arial" panose="020B0604020202020204" pitchFamily="34" charset="0"/>
                        </a:rPr>
                        <a:t>Simulation-Based Robotics Research</a:t>
                      </a:r>
                      <a:endParaRPr lang="en-US" sz="1050" b="0" i="0" u="none" strike="noStrike" dirty="0">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Webots, Gazebo, and ROS simulations help prototype industrial applications at low cost before real-world deployment.</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a:effectLst/>
                          <a:latin typeface="Arial" panose="020B0604020202020204" pitchFamily="34" charset="0"/>
                          <a:cs typeface="Arial" panose="020B0604020202020204" pitchFamily="34" charset="0"/>
                        </a:rPr>
                        <a:t>Webots, ROS, Unity, MATLAB</a:t>
                      </a:r>
                      <a:endParaRPr lang="en-US" sz="1050" b="0" i="0" u="none" strike="noStrike">
                        <a:effectLst/>
                        <a:latin typeface="Arial" panose="020B0604020202020204" pitchFamily="34" charset="0"/>
                        <a:cs typeface="Arial" panose="020B0604020202020204" pitchFamily="34" charset="0"/>
                      </a:endParaRPr>
                    </a:p>
                  </a:txBody>
                  <a:tcPr marL="14168" marR="14168" marT="7084" marB="7084" anchor="ctr"/>
                </a:tc>
                <a:tc>
                  <a:txBody>
                    <a:bodyPr/>
                    <a:lstStyle/>
                    <a:p>
                      <a:pPr algn="l" fontAlgn="ctr">
                        <a:buNone/>
                      </a:pPr>
                      <a:r>
                        <a:rPr lang="en-US" sz="1050" b="0" u="none" strike="noStrike" dirty="0">
                          <a:effectLst/>
                          <a:latin typeface="Arial" panose="020B0604020202020204" pitchFamily="34" charset="0"/>
                          <a:cs typeface="Arial" panose="020B0604020202020204" pitchFamily="34" charset="0"/>
                        </a:rPr>
                        <a:t>Your entire system is a </a:t>
                      </a:r>
                      <a:r>
                        <a:rPr lang="en-US" sz="1050" b="1" u="none" strike="noStrike" dirty="0">
                          <a:effectLst/>
                          <a:latin typeface="Arial" panose="020B0604020202020204" pitchFamily="34" charset="0"/>
                          <a:cs typeface="Arial" panose="020B0604020202020204" pitchFamily="34" charset="0"/>
                        </a:rPr>
                        <a:t>simulation-based prototype</a:t>
                      </a:r>
                      <a:r>
                        <a:rPr lang="en-US" sz="1050" b="0" u="none" strike="noStrike" dirty="0">
                          <a:effectLst/>
                          <a:latin typeface="Arial" panose="020B0604020202020204" pitchFamily="34" charset="0"/>
                          <a:cs typeface="Arial" panose="020B0604020202020204" pitchFamily="34" charset="0"/>
                        </a:rPr>
                        <a:t>, aligning with modern development practices.</a:t>
                      </a:r>
                      <a:endParaRPr lang="en-US" sz="1050" b="0" i="0" u="none" strike="noStrike" dirty="0">
                        <a:effectLst/>
                        <a:latin typeface="Arial" panose="020B0604020202020204" pitchFamily="34" charset="0"/>
                        <a:cs typeface="Arial" panose="020B0604020202020204" pitchFamily="34" charset="0"/>
                      </a:endParaRPr>
                    </a:p>
                  </a:txBody>
                  <a:tcPr marL="14168" marR="14168" marT="7084" marB="7084" anchor="ctr"/>
                </a:tc>
                <a:extLst>
                  <a:ext uri="{0D108BD9-81ED-4DB2-BD59-A6C34878D82A}">
                    <a16:rowId xmlns:a16="http://schemas.microsoft.com/office/drawing/2014/main" val="500181031"/>
                  </a:ext>
                </a:extLst>
              </a:tr>
            </a:tbl>
          </a:graphicData>
        </a:graphic>
      </p:graphicFrame>
    </p:spTree>
    <p:extLst>
      <p:ext uri="{BB962C8B-B14F-4D97-AF65-F5344CB8AC3E}">
        <p14:creationId xmlns:p14="http://schemas.microsoft.com/office/powerpoint/2010/main" val="2635891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41" name="Rectangle 4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Rectangle 4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1596F5-2884-1F1C-CB55-A7EC7A0C5812}"/>
              </a:ext>
            </a:extLst>
          </p:cNvPr>
          <p:cNvSpPr>
            <a:spLocks noGrp="1"/>
          </p:cNvSpPr>
          <p:nvPr>
            <p:ph type="title"/>
          </p:nvPr>
        </p:nvSpPr>
        <p:spPr>
          <a:xfrm>
            <a:off x="1043631" y="809898"/>
            <a:ext cx="10173010" cy="1554480"/>
          </a:xfrm>
        </p:spPr>
        <p:txBody>
          <a:bodyPr anchor="ctr">
            <a:normAutofit/>
          </a:bodyPr>
          <a:lstStyle/>
          <a:p>
            <a:r>
              <a:rPr lang="en-US" sz="4800"/>
              <a:t>Literature Review</a:t>
            </a:r>
          </a:p>
        </p:txBody>
      </p:sp>
      <p:cxnSp>
        <p:nvCxnSpPr>
          <p:cNvPr id="47" name="Straight Connector 4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330EB577-542E-A4AD-3CED-D432EDC7AA07}"/>
              </a:ext>
            </a:extLst>
          </p:cNvPr>
          <p:cNvGraphicFramePr>
            <a:graphicFrameLocks noGrp="1"/>
          </p:cNvGraphicFramePr>
          <p:nvPr>
            <p:ph idx="1"/>
            <p:extLst>
              <p:ext uri="{D42A27DB-BD31-4B8C-83A1-F6EECF244321}">
                <p14:modId xmlns:p14="http://schemas.microsoft.com/office/powerpoint/2010/main" val="1037735039"/>
              </p:ext>
            </p:extLst>
          </p:nvPr>
        </p:nvGraphicFramePr>
        <p:xfrm>
          <a:off x="904601" y="2805203"/>
          <a:ext cx="10378441" cy="3382977"/>
        </p:xfrm>
        <a:graphic>
          <a:graphicData uri="http://schemas.openxmlformats.org/drawingml/2006/table">
            <a:tbl>
              <a:tblPr>
                <a:tableStyleId>{ED083AE6-46FA-4A59-8FB0-9F97EB10719F}</a:tableStyleId>
              </a:tblPr>
              <a:tblGrid>
                <a:gridCol w="1991146">
                  <a:extLst>
                    <a:ext uri="{9D8B030D-6E8A-4147-A177-3AD203B41FA5}">
                      <a16:colId xmlns:a16="http://schemas.microsoft.com/office/drawing/2014/main" val="217198776"/>
                    </a:ext>
                  </a:extLst>
                </a:gridCol>
                <a:gridCol w="4236575">
                  <a:extLst>
                    <a:ext uri="{9D8B030D-6E8A-4147-A177-3AD203B41FA5}">
                      <a16:colId xmlns:a16="http://schemas.microsoft.com/office/drawing/2014/main" val="267424229"/>
                    </a:ext>
                  </a:extLst>
                </a:gridCol>
                <a:gridCol w="4150720">
                  <a:extLst>
                    <a:ext uri="{9D8B030D-6E8A-4147-A177-3AD203B41FA5}">
                      <a16:colId xmlns:a16="http://schemas.microsoft.com/office/drawing/2014/main" val="2114089575"/>
                    </a:ext>
                  </a:extLst>
                </a:gridCol>
              </a:tblGrid>
              <a:tr h="198899">
                <a:tc>
                  <a:txBody>
                    <a:bodyPr/>
                    <a:lstStyle/>
                    <a:p>
                      <a:pPr>
                        <a:buNone/>
                      </a:pPr>
                      <a:r>
                        <a:rPr lang="en-US" sz="1100" b="1">
                          <a:latin typeface="Arial" panose="020B0604020202020204" pitchFamily="34" charset="0"/>
                          <a:cs typeface="Arial" panose="020B0604020202020204" pitchFamily="34" charset="0"/>
                        </a:rPr>
                        <a:t>Aspect</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b="1">
                          <a:latin typeface="Arial" panose="020B0604020202020204" pitchFamily="34" charset="0"/>
                          <a:cs typeface="Arial" panose="020B0604020202020204" pitchFamily="34" charset="0"/>
                        </a:rPr>
                        <a:t>Advantages</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b="1">
                          <a:latin typeface="Arial" panose="020B0604020202020204" pitchFamily="34" charset="0"/>
                          <a:cs typeface="Arial" panose="020B0604020202020204" pitchFamily="34" charset="0"/>
                        </a:rPr>
                        <a:t>Disadvantages / Limitations</a:t>
                      </a:r>
                      <a:endParaRPr lang="en-US" sz="1100">
                        <a:latin typeface="Arial" panose="020B0604020202020204" pitchFamily="34" charset="0"/>
                        <a:cs typeface="Arial" panose="020B0604020202020204" pitchFamily="34" charset="0"/>
                      </a:endParaRPr>
                    </a:p>
                  </a:txBody>
                  <a:tcPr marL="23795" marR="23795" marT="11897" marB="11897" anchor="ctr"/>
                </a:tc>
                <a:extLst>
                  <a:ext uri="{0D108BD9-81ED-4DB2-BD59-A6C34878D82A}">
                    <a16:rowId xmlns:a16="http://schemas.microsoft.com/office/drawing/2014/main" val="3772014681"/>
                  </a:ext>
                </a:extLst>
              </a:tr>
              <a:tr h="342642">
                <a:tc>
                  <a:txBody>
                    <a:bodyPr/>
                    <a:lstStyle/>
                    <a:p>
                      <a:pPr>
                        <a:buNone/>
                      </a:pPr>
                      <a:r>
                        <a:rPr lang="en-US" sz="1100" b="1">
                          <a:latin typeface="Arial" panose="020B0604020202020204" pitchFamily="34" charset="0"/>
                          <a:cs typeface="Arial" panose="020B0604020202020204" pitchFamily="34" charset="0"/>
                        </a:rPr>
                        <a:t>Automation &amp; Efficiency</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High sorting speed compared to manual labor. • Works continuously without fatigue. • Reduces human errors and increases productivity.</a:t>
                      </a: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Requires initial setup cost. • Performance depends on accurate calibration and control tuning.</a:t>
                      </a:r>
                    </a:p>
                  </a:txBody>
                  <a:tcPr marL="23795" marR="23795" marT="11897" marB="11897" anchor="ctr"/>
                </a:tc>
                <a:extLst>
                  <a:ext uri="{0D108BD9-81ED-4DB2-BD59-A6C34878D82A}">
                    <a16:rowId xmlns:a16="http://schemas.microsoft.com/office/drawing/2014/main" val="4058204057"/>
                  </a:ext>
                </a:extLst>
              </a:tr>
              <a:tr h="342642">
                <a:tc>
                  <a:txBody>
                    <a:bodyPr/>
                    <a:lstStyle/>
                    <a:p>
                      <a:pPr>
                        <a:buNone/>
                      </a:pPr>
                      <a:r>
                        <a:rPr lang="en-US" sz="1100" b="1">
                          <a:latin typeface="Arial" panose="020B0604020202020204" pitchFamily="34" charset="0"/>
                          <a:cs typeface="Arial" panose="020B0604020202020204" pitchFamily="34" charset="0"/>
                        </a:rPr>
                        <a:t>Accuracy of Classification</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Consistent color-based detection eliminates subjective human judgment. • Robot executes identical sorting patterns every time.</a:t>
                      </a:r>
                    </a:p>
                  </a:txBody>
                  <a:tcPr marL="23795" marR="23795" marT="11897" marB="11897" anchor="ctr"/>
                </a:tc>
                <a:tc>
                  <a:txBody>
                    <a:bodyPr/>
                    <a:lstStyle/>
                    <a:p>
                      <a:pPr>
                        <a:buNone/>
                      </a:pPr>
                      <a:r>
                        <a:rPr lang="en-US" sz="1100" dirty="0">
                          <a:latin typeface="Arial" panose="020B0604020202020204" pitchFamily="34" charset="0"/>
                          <a:cs typeface="Arial" panose="020B0604020202020204" pitchFamily="34" charset="0"/>
                        </a:rPr>
                        <a:t>• Simple color detection may fail under varying lighting conditions. • Cannot detect defects unless advanced vision (CNN) is added.</a:t>
                      </a:r>
                    </a:p>
                  </a:txBody>
                  <a:tcPr marL="23795" marR="23795" marT="11897" marB="11897" anchor="ctr"/>
                </a:tc>
                <a:extLst>
                  <a:ext uri="{0D108BD9-81ED-4DB2-BD59-A6C34878D82A}">
                    <a16:rowId xmlns:a16="http://schemas.microsoft.com/office/drawing/2014/main" val="1422013901"/>
                  </a:ext>
                </a:extLst>
              </a:tr>
              <a:tr h="342642">
                <a:tc>
                  <a:txBody>
                    <a:bodyPr/>
                    <a:lstStyle/>
                    <a:p>
                      <a:pPr>
                        <a:buNone/>
                      </a:pPr>
                      <a:r>
                        <a:rPr lang="en-US" sz="1100" b="1">
                          <a:latin typeface="Arial" panose="020B0604020202020204" pitchFamily="34" charset="0"/>
                          <a:cs typeface="Arial" panose="020B0604020202020204" pitchFamily="34" charset="0"/>
                        </a:rPr>
                        <a:t>Robotic Arm (UR-type)</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High precision in pick-and-place operations. • Flexible 6-DOF motion suitable for complex environments. • Safe and collaborative in real industrial settings.</a:t>
                      </a: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Inverse kinematics complexity increases computational load. • Limited payload — suitable only for lightweight objects like fruits.</a:t>
                      </a:r>
                    </a:p>
                  </a:txBody>
                  <a:tcPr marL="23795" marR="23795" marT="11897" marB="11897" anchor="ctr"/>
                </a:tc>
                <a:extLst>
                  <a:ext uri="{0D108BD9-81ED-4DB2-BD59-A6C34878D82A}">
                    <a16:rowId xmlns:a16="http://schemas.microsoft.com/office/drawing/2014/main" val="1921130958"/>
                  </a:ext>
                </a:extLst>
              </a:tr>
              <a:tr h="342642">
                <a:tc>
                  <a:txBody>
                    <a:bodyPr/>
                    <a:lstStyle/>
                    <a:p>
                      <a:pPr>
                        <a:buNone/>
                      </a:pPr>
                      <a:r>
                        <a:rPr lang="en-US" sz="1100" b="1">
                          <a:latin typeface="Arial" panose="020B0604020202020204" pitchFamily="34" charset="0"/>
                          <a:cs typeface="Arial" panose="020B0604020202020204" pitchFamily="34" charset="0"/>
                        </a:rPr>
                        <a:t>Conveyor Belt Integration</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Ensures continuous fruit flow. • Ideal for real-time sorting with synchronized robot timing.</a:t>
                      </a: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Moving conveyor requires fast perception and reaction times. • Object slippage or rotation may affect grasp accuracy.</a:t>
                      </a:r>
                    </a:p>
                  </a:txBody>
                  <a:tcPr marL="23795" marR="23795" marT="11897" marB="11897" anchor="ctr"/>
                </a:tc>
                <a:extLst>
                  <a:ext uri="{0D108BD9-81ED-4DB2-BD59-A6C34878D82A}">
                    <a16:rowId xmlns:a16="http://schemas.microsoft.com/office/drawing/2014/main" val="1672202648"/>
                  </a:ext>
                </a:extLst>
              </a:tr>
              <a:tr h="486385">
                <a:tc>
                  <a:txBody>
                    <a:bodyPr/>
                    <a:lstStyle/>
                    <a:p>
                      <a:pPr>
                        <a:buNone/>
                      </a:pPr>
                      <a:r>
                        <a:rPr lang="en-US" sz="1100" b="1">
                          <a:latin typeface="Arial" panose="020B0604020202020204" pitchFamily="34" charset="0"/>
                          <a:cs typeface="Arial" panose="020B0604020202020204" pitchFamily="34" charset="0"/>
                        </a:rPr>
                        <a:t>Scalability</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System can be extended to multiple fruit types. • Easy to modify in simulation (Webots). • Adaptable to industry 4.0 environments.</a:t>
                      </a: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Adding more fruit classes requires more complex classification methods. • Increasing system speed may require better hardware and optimized algorithms.</a:t>
                      </a:r>
                    </a:p>
                  </a:txBody>
                  <a:tcPr marL="23795" marR="23795" marT="11897" marB="11897" anchor="ctr"/>
                </a:tc>
                <a:extLst>
                  <a:ext uri="{0D108BD9-81ED-4DB2-BD59-A6C34878D82A}">
                    <a16:rowId xmlns:a16="http://schemas.microsoft.com/office/drawing/2014/main" val="757311193"/>
                  </a:ext>
                </a:extLst>
              </a:tr>
              <a:tr h="342642">
                <a:tc>
                  <a:txBody>
                    <a:bodyPr/>
                    <a:lstStyle/>
                    <a:p>
                      <a:pPr>
                        <a:buNone/>
                      </a:pPr>
                      <a:r>
                        <a:rPr lang="en-US" sz="1100" b="1">
                          <a:latin typeface="Arial" panose="020B0604020202020204" pitchFamily="34" charset="0"/>
                          <a:cs typeface="Arial" panose="020B0604020202020204" pitchFamily="34" charset="0"/>
                        </a:rPr>
                        <a:t>Simulation Environment (Webots)</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Low-cost prototyping environment. • Safe space for testing without damaging hardware. • Easy visualization of robot behavior and conveyor motion.</a:t>
                      </a: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Simulation does not fully replicate real-world physics. • Requires additional effort to port the solution to real hardware (e.g., UR5 + camera).</a:t>
                      </a:r>
                    </a:p>
                  </a:txBody>
                  <a:tcPr marL="23795" marR="23795" marT="11897" marB="11897" anchor="ctr"/>
                </a:tc>
                <a:extLst>
                  <a:ext uri="{0D108BD9-81ED-4DB2-BD59-A6C34878D82A}">
                    <a16:rowId xmlns:a16="http://schemas.microsoft.com/office/drawing/2014/main" val="2638039947"/>
                  </a:ext>
                </a:extLst>
              </a:tr>
              <a:tr h="342642">
                <a:tc>
                  <a:txBody>
                    <a:bodyPr/>
                    <a:lstStyle/>
                    <a:p>
                      <a:pPr>
                        <a:buNone/>
                      </a:pPr>
                      <a:r>
                        <a:rPr lang="en-US" sz="1100" b="1">
                          <a:latin typeface="Arial" panose="020B0604020202020204" pitchFamily="34" charset="0"/>
                          <a:cs typeface="Arial" panose="020B0604020202020204" pitchFamily="34" charset="0"/>
                        </a:rPr>
                        <a:t>Maintenance &amp; Reliability</a:t>
                      </a:r>
                      <a:endParaRPr lang="en-US" sz="1100">
                        <a:latin typeface="Arial" panose="020B0604020202020204" pitchFamily="34" charset="0"/>
                        <a:cs typeface="Arial" panose="020B0604020202020204" pitchFamily="34" charset="0"/>
                      </a:endParaRPr>
                    </a:p>
                  </a:txBody>
                  <a:tcPr marL="23795" marR="23795" marT="11897" marB="11897" anchor="ctr"/>
                </a:tc>
                <a:tc>
                  <a:txBody>
                    <a:bodyPr/>
                    <a:lstStyle/>
                    <a:p>
                      <a:pPr>
                        <a:buNone/>
                      </a:pPr>
                      <a:r>
                        <a:rPr lang="en-US" sz="1100">
                          <a:latin typeface="Arial" panose="020B0604020202020204" pitchFamily="34" charset="0"/>
                          <a:cs typeface="Arial" panose="020B0604020202020204" pitchFamily="34" charset="0"/>
                        </a:rPr>
                        <a:t>• Reduced human involvement lowers contamination and safety risks. • Automated systems require less day-to-day supervision.</a:t>
                      </a:r>
                    </a:p>
                  </a:txBody>
                  <a:tcPr marL="23795" marR="23795" marT="11897" marB="11897" anchor="ctr"/>
                </a:tc>
                <a:tc>
                  <a:txBody>
                    <a:bodyPr/>
                    <a:lstStyle/>
                    <a:p>
                      <a:pPr>
                        <a:buNone/>
                      </a:pPr>
                      <a:r>
                        <a:rPr lang="en-US" sz="1100" dirty="0">
                          <a:latin typeface="Arial" panose="020B0604020202020204" pitchFamily="34" charset="0"/>
                          <a:cs typeface="Arial" panose="020B0604020202020204" pitchFamily="34" charset="0"/>
                        </a:rPr>
                        <a:t>• Requires periodic maintenance of robotic joints and conveyor parts. • Potential downtime in case of hardware failures.</a:t>
                      </a:r>
                    </a:p>
                  </a:txBody>
                  <a:tcPr marL="23795" marR="23795" marT="11897" marB="11897" anchor="ctr"/>
                </a:tc>
                <a:extLst>
                  <a:ext uri="{0D108BD9-81ED-4DB2-BD59-A6C34878D82A}">
                    <a16:rowId xmlns:a16="http://schemas.microsoft.com/office/drawing/2014/main" val="4022921755"/>
                  </a:ext>
                </a:extLst>
              </a:tr>
            </a:tbl>
          </a:graphicData>
        </a:graphic>
      </p:graphicFrame>
    </p:spTree>
    <p:extLst>
      <p:ext uri="{BB962C8B-B14F-4D97-AF65-F5344CB8AC3E}">
        <p14:creationId xmlns:p14="http://schemas.microsoft.com/office/powerpoint/2010/main" val="1178243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9C4033-43A1-476C-94C0-DC707BF6D82D}"/>
              </a:ext>
            </a:extLst>
          </p:cNvPr>
          <p:cNvSpPr>
            <a:spLocks noGrp="1"/>
          </p:cNvSpPr>
          <p:nvPr>
            <p:ph type="title"/>
          </p:nvPr>
        </p:nvSpPr>
        <p:spPr>
          <a:xfrm>
            <a:off x="589560" y="856180"/>
            <a:ext cx="5279408" cy="1128068"/>
          </a:xfrm>
        </p:spPr>
        <p:txBody>
          <a:bodyPr anchor="ctr">
            <a:normAutofit/>
          </a:bodyPr>
          <a:lstStyle/>
          <a:p>
            <a:r>
              <a:rPr lang="en-US" sz="4000"/>
              <a:t>Analysis</a:t>
            </a:r>
          </a:p>
        </p:txBody>
      </p:sp>
      <p:grpSp>
        <p:nvGrpSpPr>
          <p:cNvPr id="2059" name="Group 205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060" name="Rectangle 205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3" name="Rectangle 206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7AADC37-2414-E481-339E-FE05A37D8BDB}"/>
              </a:ext>
            </a:extLst>
          </p:cNvPr>
          <p:cNvSpPr>
            <a:spLocks noGrp="1"/>
          </p:cNvSpPr>
          <p:nvPr>
            <p:ph idx="1"/>
          </p:nvPr>
        </p:nvSpPr>
        <p:spPr>
          <a:xfrm>
            <a:off x="590719" y="2330505"/>
            <a:ext cx="5278066" cy="4368684"/>
          </a:xfrm>
        </p:spPr>
        <p:txBody>
          <a:bodyPr anchor="ctr">
            <a:normAutofit fontScale="85000" lnSpcReduction="20000"/>
          </a:bodyPr>
          <a:lstStyle/>
          <a:p>
            <a:pPr marL="0" indent="0">
              <a:buNone/>
            </a:pPr>
            <a:r>
              <a:rPr lang="en-US" sz="2100" b="1" dirty="0"/>
              <a:t>First: Sensors </a:t>
            </a:r>
            <a:endParaRPr lang="ar-EG" sz="2100" b="1" dirty="0"/>
          </a:p>
          <a:p>
            <a:pPr marL="0" indent="0">
              <a:buNone/>
            </a:pPr>
            <a:r>
              <a:rPr lang="ar-EG" sz="1400" b="1" dirty="0"/>
              <a:t>.1</a:t>
            </a:r>
            <a:r>
              <a:rPr lang="fr-FR" sz="1400" b="1" dirty="0"/>
              <a:t>Force/Torque </a:t>
            </a:r>
            <a:r>
              <a:rPr lang="fr-FR" sz="1400" b="1" dirty="0" err="1"/>
              <a:t>Sensor</a:t>
            </a:r>
            <a:r>
              <a:rPr lang="fr-FR" sz="1400" b="1" dirty="0"/>
              <a:t> </a:t>
            </a:r>
            <a:r>
              <a:rPr lang="ar-EG" sz="1400" b="1" dirty="0"/>
              <a:t> </a:t>
            </a:r>
          </a:p>
          <a:p>
            <a:pPr marL="0" indent="0">
              <a:buNone/>
            </a:pPr>
            <a:r>
              <a:rPr lang="en-US" sz="1400" dirty="0"/>
              <a:t>Located in the end-wrist joint of the robot. It measures </a:t>
            </a:r>
            <a:endParaRPr lang="ar-EG" sz="1400" dirty="0"/>
          </a:p>
          <a:p>
            <a:pPr marL="0" indent="0">
              <a:buNone/>
            </a:pPr>
            <a:r>
              <a:rPr lang="en-US" sz="1400" dirty="0"/>
              <a:t>three force components:</a:t>
            </a:r>
          </a:p>
          <a:p>
            <a:r>
              <a:rPr lang="en-US" sz="1400" dirty="0" err="1"/>
              <a:t>Fx</a:t>
            </a:r>
            <a:r>
              <a:rPr lang="en-US" sz="1400" dirty="0"/>
              <a:t>, Fy, Fz </a:t>
            </a:r>
          </a:p>
          <a:p>
            <a:pPr marL="0" indent="0">
              <a:buNone/>
            </a:pPr>
            <a:r>
              <a:rPr lang="en-US" sz="1400" dirty="0"/>
              <a:t>three torque components: </a:t>
            </a:r>
          </a:p>
          <a:p>
            <a:r>
              <a:rPr lang="en-US" sz="1400" dirty="0"/>
              <a:t>Tx, Ty, </a:t>
            </a:r>
            <a:r>
              <a:rPr lang="en-US" sz="1400" dirty="0" err="1"/>
              <a:t>Tz</a:t>
            </a:r>
            <a:r>
              <a:rPr lang="en-US" sz="1400" dirty="0"/>
              <a:t> </a:t>
            </a:r>
          </a:p>
          <a:p>
            <a:pPr marL="0" indent="0">
              <a:buNone/>
            </a:pPr>
            <a:r>
              <a:rPr lang="en-US" sz="1400" dirty="0"/>
              <a:t>This sensor enables the robot to: </a:t>
            </a:r>
          </a:p>
          <a:p>
            <a:pPr lvl="1">
              <a:buFont typeface="Courier New" panose="02070309020205020404" pitchFamily="49" charset="0"/>
              <a:buChar char="o"/>
            </a:pPr>
            <a:r>
              <a:rPr lang="en-US" sz="1400" dirty="0"/>
              <a:t>Perform force-controlled operations </a:t>
            </a:r>
          </a:p>
          <a:p>
            <a:pPr lvl="1">
              <a:buFont typeface="Courier New" panose="02070309020205020404" pitchFamily="49" charset="0"/>
              <a:buChar char="o"/>
            </a:pPr>
            <a:r>
              <a:rPr lang="en-US" sz="1400" dirty="0"/>
              <a:t>Execute precise tasks that require physical contact </a:t>
            </a:r>
          </a:p>
          <a:p>
            <a:pPr lvl="1">
              <a:buFont typeface="Courier New" panose="02070309020205020404" pitchFamily="49" charset="0"/>
              <a:buChar char="o"/>
            </a:pPr>
            <a:r>
              <a:rPr lang="en-US" sz="1400" dirty="0"/>
              <a:t>Learn through touch (</a:t>
            </a:r>
            <a:r>
              <a:rPr lang="en-US" sz="1400" dirty="0" err="1"/>
              <a:t>FreeDrive</a:t>
            </a:r>
            <a:r>
              <a:rPr lang="en-US" sz="1400" dirty="0"/>
              <a:t> mode) </a:t>
            </a:r>
          </a:p>
          <a:p>
            <a:pPr lvl="1">
              <a:buFont typeface="Courier New" panose="02070309020205020404" pitchFamily="49" charset="0"/>
              <a:buChar char="o"/>
            </a:pPr>
            <a:r>
              <a:rPr lang="en-US" sz="1400" dirty="0"/>
              <a:t>Carry out sensitive insertion tasks such as press-fit assembly </a:t>
            </a:r>
          </a:p>
          <a:p>
            <a:pPr marL="0" indent="0">
              <a:buNone/>
            </a:pPr>
            <a:r>
              <a:rPr lang="fr-FR" sz="1400" b="1" dirty="0"/>
              <a:t>2. Joint Position </a:t>
            </a:r>
            <a:r>
              <a:rPr lang="fr-FR" sz="1400" b="1" dirty="0" err="1"/>
              <a:t>Sensors</a:t>
            </a:r>
            <a:r>
              <a:rPr lang="fr-FR" sz="1400" b="1" dirty="0"/>
              <a:t> – </a:t>
            </a:r>
            <a:r>
              <a:rPr lang="fr-FR" sz="1400" b="1" dirty="0" err="1"/>
              <a:t>Encoders</a:t>
            </a:r>
            <a:endParaRPr lang="en-US" sz="1400" dirty="0"/>
          </a:p>
          <a:p>
            <a:pPr marL="0" indent="0">
              <a:buNone/>
            </a:pPr>
            <a:r>
              <a:rPr lang="en-US" sz="1400" dirty="0"/>
              <a:t>Each joint contains both </a:t>
            </a:r>
            <a:r>
              <a:rPr lang="en-US" sz="1400" b="1" dirty="0"/>
              <a:t>absolute </a:t>
            </a:r>
            <a:r>
              <a:rPr lang="en-US" sz="1400" dirty="0"/>
              <a:t>and </a:t>
            </a:r>
            <a:r>
              <a:rPr lang="en-US" sz="1400" b="1" dirty="0"/>
              <a:t>incremental encoders</a:t>
            </a:r>
            <a:r>
              <a:rPr lang="en-US" sz="1400" dirty="0"/>
              <a:t>.</a:t>
            </a:r>
            <a:endParaRPr lang="ar-EG" sz="1400" dirty="0"/>
          </a:p>
          <a:p>
            <a:pPr marL="0" indent="0">
              <a:buNone/>
            </a:pPr>
            <a:r>
              <a:rPr lang="en-US" sz="1400" dirty="0"/>
              <a:t>Their functions include: </a:t>
            </a:r>
          </a:p>
          <a:p>
            <a:pPr lvl="1">
              <a:buFont typeface="Courier New" panose="02070309020205020404" pitchFamily="49" charset="0"/>
              <a:buChar char="o"/>
            </a:pPr>
            <a:r>
              <a:rPr lang="en-US" sz="1400" dirty="0"/>
              <a:t>Improving motion control </a:t>
            </a:r>
          </a:p>
          <a:p>
            <a:pPr lvl="1">
              <a:buFont typeface="Courier New" panose="02070309020205020404" pitchFamily="49" charset="0"/>
              <a:buChar char="o"/>
            </a:pPr>
            <a:r>
              <a:rPr lang="en-US" sz="1400" dirty="0"/>
              <a:t>Determining the joint angle with high accuracy </a:t>
            </a:r>
          </a:p>
          <a:p>
            <a:pPr lvl="1">
              <a:buFont typeface="Courier New" panose="02070309020205020404" pitchFamily="49" charset="0"/>
              <a:buChar char="o"/>
            </a:pPr>
            <a:r>
              <a:rPr lang="en-US" sz="1400" dirty="0"/>
              <a:t>Restoring joint position after rebooting </a:t>
            </a:r>
          </a:p>
          <a:p>
            <a:pPr lvl="1">
              <a:buFont typeface="Courier New" panose="02070309020205020404" pitchFamily="49" charset="0"/>
              <a:buChar char="o"/>
            </a:pPr>
            <a:r>
              <a:rPr lang="en-US" sz="1400" dirty="0"/>
              <a:t>Preventing trajectory errors or path deviation </a:t>
            </a:r>
          </a:p>
          <a:p>
            <a:pPr marL="0" indent="0">
              <a:buNone/>
            </a:pPr>
            <a:endParaRPr lang="en-US" sz="800" dirty="0"/>
          </a:p>
        </p:txBody>
      </p:sp>
      <p:sp>
        <p:nvSpPr>
          <p:cNvPr id="2065" name="Rectangle 206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ervo Motor Glossary of Terms">
            <a:extLst>
              <a:ext uri="{FF2B5EF4-FFF2-40B4-BE49-F238E27FC236}">
                <a16:creationId xmlns:a16="http://schemas.microsoft.com/office/drawing/2014/main" id="{887370A7-ABE0-E5AA-B24B-8F8BD7F556C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01398" y="581892"/>
            <a:ext cx="4361482" cy="2518756"/>
          </a:xfrm>
          <a:prstGeom prst="rect">
            <a:avLst/>
          </a:prstGeom>
          <a:noFill/>
          <a:extLst>
            <a:ext uri="{909E8E84-426E-40DD-AFC4-6F175D3DCCD1}">
              <a14:hiddenFill xmlns:a14="http://schemas.microsoft.com/office/drawing/2010/main">
                <a:solidFill>
                  <a:srgbClr val="FFFFFF"/>
                </a:solidFill>
              </a14:hiddenFill>
            </a:ext>
          </a:extLst>
        </p:spPr>
      </p:pic>
      <p:sp>
        <p:nvSpPr>
          <p:cNvPr id="2069" name="Rectangle 206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SensONE 6-axis force torque sensor">
            <a:extLst>
              <a:ext uri="{FF2B5EF4-FFF2-40B4-BE49-F238E27FC236}">
                <a16:creationId xmlns:a16="http://schemas.microsoft.com/office/drawing/2014/main" id="{4E2C883D-8E3C-A347-DC9B-8A2A7A5AA3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8401" y="3504844"/>
            <a:ext cx="2322267" cy="2515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615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2">
            <a:extLst>
              <a:ext uri="{FF2B5EF4-FFF2-40B4-BE49-F238E27FC236}">
                <a16:creationId xmlns:a16="http://schemas.microsoft.com/office/drawing/2014/main" id="{EB708185-20C0-40F2-8F2D-8EB9E34B3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5" name="Group 308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86" name="Rectangle 308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9" name="Rectangle 308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9BFE0A-3666-E832-54BC-C64AC193C202}"/>
              </a:ext>
            </a:extLst>
          </p:cNvPr>
          <p:cNvSpPr>
            <a:spLocks noGrp="1"/>
          </p:cNvSpPr>
          <p:nvPr>
            <p:ph type="title"/>
          </p:nvPr>
        </p:nvSpPr>
        <p:spPr>
          <a:xfrm>
            <a:off x="1057025" y="922644"/>
            <a:ext cx="5040285" cy="1169585"/>
          </a:xfrm>
        </p:spPr>
        <p:txBody>
          <a:bodyPr anchor="b">
            <a:normAutofit/>
          </a:bodyPr>
          <a:lstStyle/>
          <a:p>
            <a:r>
              <a:rPr lang="en-US" sz="4000"/>
              <a:t>Analysis</a:t>
            </a:r>
          </a:p>
        </p:txBody>
      </p:sp>
      <p:sp>
        <p:nvSpPr>
          <p:cNvPr id="3091" name="Rectangle 309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37212E8-9A53-29D6-6DAF-DCCB774FA2F4}"/>
              </a:ext>
            </a:extLst>
          </p:cNvPr>
          <p:cNvSpPr>
            <a:spLocks noGrp="1"/>
          </p:cNvSpPr>
          <p:nvPr>
            <p:ph idx="1"/>
          </p:nvPr>
        </p:nvSpPr>
        <p:spPr>
          <a:xfrm>
            <a:off x="1055715" y="2413280"/>
            <a:ext cx="5535481" cy="3926823"/>
          </a:xfrm>
        </p:spPr>
        <p:txBody>
          <a:bodyPr anchor="ctr">
            <a:normAutofit fontScale="40000" lnSpcReduction="20000"/>
          </a:bodyPr>
          <a:lstStyle/>
          <a:p>
            <a:pPr marL="0" indent="0">
              <a:buNone/>
            </a:pPr>
            <a:r>
              <a:rPr lang="en-US" sz="2300" b="1" dirty="0">
                <a:cs typeface="Arial" panose="020B0604020202020204" pitchFamily="34" charset="0"/>
              </a:rPr>
              <a:t>3. Temperature Sensors</a:t>
            </a:r>
            <a:endParaRPr lang="ar-EG" sz="2300" b="1" dirty="0">
              <a:cs typeface="Arial" panose="020B0604020202020204" pitchFamily="34" charset="0"/>
            </a:endParaRPr>
          </a:p>
          <a:p>
            <a:pPr marL="0" indent="0">
              <a:buNone/>
            </a:pPr>
            <a:r>
              <a:rPr lang="en-US" sz="2300" dirty="0">
                <a:cs typeface="Arial" panose="020B0604020202020204" pitchFamily="34" charset="0"/>
              </a:rPr>
              <a:t>Located inside every motor to prevent overheating.</a:t>
            </a:r>
            <a:endParaRPr lang="ar-EG" sz="2300" dirty="0">
              <a:cs typeface="Arial" panose="020B0604020202020204" pitchFamily="34" charset="0"/>
            </a:endParaRPr>
          </a:p>
          <a:p>
            <a:pPr marL="0" indent="0">
              <a:buNone/>
            </a:pPr>
            <a:r>
              <a:rPr lang="en-US" sz="2300" dirty="0"/>
              <a:t>They are used for: </a:t>
            </a:r>
          </a:p>
          <a:p>
            <a:pPr lvl="1">
              <a:buFont typeface="Courier New" panose="02070309020205020404" pitchFamily="49" charset="0"/>
              <a:buChar char="o"/>
            </a:pPr>
            <a:r>
              <a:rPr lang="en-US" sz="2300" dirty="0"/>
              <a:t>Overload protection </a:t>
            </a:r>
          </a:p>
          <a:p>
            <a:pPr lvl="1">
              <a:buFont typeface="Courier New" panose="02070309020205020404" pitchFamily="49" charset="0"/>
              <a:buChar char="o"/>
            </a:pPr>
            <a:r>
              <a:rPr lang="en-US" sz="2300" dirty="0"/>
              <a:t>Reducing motor power if temperature exceeds safety limits </a:t>
            </a:r>
          </a:p>
          <a:p>
            <a:pPr lvl="1">
              <a:buFont typeface="Courier New" panose="02070309020205020404" pitchFamily="49" charset="0"/>
              <a:buChar char="o"/>
            </a:pPr>
            <a:r>
              <a:rPr lang="en-US" sz="2300" dirty="0"/>
              <a:t>Preventing sudden system shutdowns </a:t>
            </a:r>
          </a:p>
          <a:p>
            <a:pPr marL="0" indent="0">
              <a:buNone/>
            </a:pPr>
            <a:endParaRPr lang="ar-EG" sz="2300" dirty="0">
              <a:cs typeface="Arial" panose="020B0604020202020204" pitchFamily="34" charset="0"/>
            </a:endParaRPr>
          </a:p>
          <a:p>
            <a:pPr marL="0" indent="0">
              <a:buNone/>
            </a:pPr>
            <a:r>
              <a:rPr lang="en-US" sz="2300" b="1" dirty="0">
                <a:cs typeface="Arial" panose="020B0604020202020204" pitchFamily="34" charset="0"/>
              </a:rPr>
              <a:t>4. Motor Current Sensors</a:t>
            </a:r>
            <a:endParaRPr lang="ar-EG" sz="2300" b="1" dirty="0">
              <a:cs typeface="Arial" panose="020B0604020202020204" pitchFamily="34" charset="0"/>
            </a:endParaRPr>
          </a:p>
          <a:p>
            <a:pPr marL="0" indent="0">
              <a:buNone/>
            </a:pPr>
            <a:r>
              <a:rPr lang="en-US" sz="2300" dirty="0">
                <a:cs typeface="Arial" panose="020B0604020202020204" pitchFamily="34" charset="0"/>
              </a:rPr>
              <a:t>These measure the electrical current flowing inside each servo motor </a:t>
            </a:r>
            <a:endParaRPr lang="ar-EG" sz="2300" dirty="0">
              <a:cs typeface="Arial" panose="020B0604020202020204" pitchFamily="34" charset="0"/>
            </a:endParaRPr>
          </a:p>
          <a:p>
            <a:pPr marL="0" indent="0">
              <a:buNone/>
            </a:pPr>
            <a:r>
              <a:rPr lang="en-US" sz="2300" dirty="0"/>
              <a:t>They enable the robot to: </a:t>
            </a:r>
          </a:p>
          <a:p>
            <a:pPr lvl="1">
              <a:buFont typeface="Courier New" panose="02070309020205020404" pitchFamily="49" charset="0"/>
              <a:buChar char="o"/>
            </a:pPr>
            <a:r>
              <a:rPr lang="en-US" sz="2300" dirty="0"/>
              <a:t>Estimate the actual torque in real time</a:t>
            </a:r>
            <a:endParaRPr lang="ar-EG" sz="2300" dirty="0"/>
          </a:p>
          <a:p>
            <a:pPr lvl="1">
              <a:buFont typeface="Courier New" panose="02070309020205020404" pitchFamily="49" charset="0"/>
              <a:buChar char="o"/>
            </a:pPr>
            <a:r>
              <a:rPr lang="en-US" sz="2300" dirty="0"/>
              <a:t>Detect early collisions </a:t>
            </a:r>
          </a:p>
          <a:p>
            <a:pPr lvl="1">
              <a:buFont typeface="Courier New" panose="02070309020205020404" pitchFamily="49" charset="0"/>
              <a:buChar char="o"/>
            </a:pPr>
            <a:r>
              <a:rPr lang="en-US" sz="2300" dirty="0"/>
              <a:t>Activate safety features such as Safe Stop </a:t>
            </a:r>
          </a:p>
          <a:p>
            <a:pPr marL="0" indent="0">
              <a:buNone/>
            </a:pPr>
            <a:endParaRPr lang="ar-EG" sz="2300" dirty="0">
              <a:cs typeface="Arial" panose="020B0604020202020204" pitchFamily="34" charset="0"/>
            </a:endParaRPr>
          </a:p>
          <a:p>
            <a:pPr marL="0" indent="0">
              <a:buNone/>
            </a:pPr>
            <a:r>
              <a:rPr lang="en-US" sz="2300" b="1" dirty="0">
                <a:cs typeface="Arial" panose="020B0604020202020204" pitchFamily="34" charset="0"/>
              </a:rPr>
              <a:t>5. Safety Sensor System</a:t>
            </a:r>
            <a:r>
              <a:rPr lang="ar-EG" sz="2300" b="1" dirty="0">
                <a:cs typeface="Arial" panose="020B0604020202020204" pitchFamily="34" charset="0"/>
              </a:rPr>
              <a:t>	</a:t>
            </a:r>
            <a:endParaRPr lang="en-US" sz="2300" dirty="0">
              <a:cs typeface="Arial" panose="020B0604020202020204" pitchFamily="34" charset="0"/>
            </a:endParaRPr>
          </a:p>
          <a:p>
            <a:pPr marL="0" indent="0">
              <a:buNone/>
            </a:pPr>
            <a:r>
              <a:rPr lang="en-US" sz="2300" dirty="0">
                <a:cs typeface="Arial" panose="020B0604020202020204" pitchFamily="34" charset="0"/>
              </a:rPr>
              <a:t>The UR5e includes an integrated safety system consisting of: </a:t>
            </a:r>
            <a:endParaRPr lang="en-US" sz="2300" dirty="0"/>
          </a:p>
          <a:p>
            <a:pPr lvl="1">
              <a:buFont typeface="Courier New" panose="02070309020205020404" pitchFamily="49" charset="0"/>
              <a:buChar char="o"/>
            </a:pPr>
            <a:r>
              <a:rPr lang="en-US" sz="2300" dirty="0"/>
              <a:t>Monitoring joint speed and acceleration </a:t>
            </a:r>
          </a:p>
          <a:p>
            <a:pPr lvl="1">
              <a:buFont typeface="Courier New" panose="02070309020205020404" pitchFamily="49" charset="0"/>
              <a:buChar char="o"/>
            </a:pPr>
            <a:r>
              <a:rPr lang="en-US" sz="2300" dirty="0"/>
              <a:t>Supervising motion and speed limits </a:t>
            </a:r>
          </a:p>
          <a:p>
            <a:pPr lvl="1">
              <a:buFont typeface="Courier New" panose="02070309020205020404" pitchFamily="49" charset="0"/>
              <a:buChar char="o"/>
            </a:pPr>
            <a:r>
              <a:rPr lang="en-US" sz="2300" dirty="0"/>
              <a:t>Embedded collision-detection mechanisms </a:t>
            </a:r>
          </a:p>
          <a:p>
            <a:pPr lvl="1">
              <a:buFont typeface="Courier New" panose="02070309020205020404" pitchFamily="49" charset="0"/>
              <a:buChar char="o"/>
            </a:pPr>
            <a:r>
              <a:rPr lang="en-US" sz="2300" dirty="0"/>
              <a:t>Supporting Safe Zones and Reduced Mode for human-robot collaboration </a:t>
            </a:r>
          </a:p>
          <a:p>
            <a:pPr marL="0" indent="0">
              <a:buNone/>
            </a:pPr>
            <a:endParaRPr lang="ar-EG" sz="500" dirty="0"/>
          </a:p>
        </p:txBody>
      </p:sp>
      <p:pic>
        <p:nvPicPr>
          <p:cNvPr id="3074" name="Picture 2" descr="Motor Thermal Protection: PTC vs KTY vs PT1000 Sensors">
            <a:extLst>
              <a:ext uri="{FF2B5EF4-FFF2-40B4-BE49-F238E27FC236}">
                <a16:creationId xmlns:a16="http://schemas.microsoft.com/office/drawing/2014/main" id="{94CC1F25-7803-27F5-11A4-296F4D34B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049" r="7481" b="5"/>
          <a:stretch>
            <a:fillRect/>
          </a:stretch>
        </p:blipFill>
        <p:spPr bwMode="auto">
          <a:xfrm>
            <a:off x="6946666" y="774285"/>
            <a:ext cx="2112264" cy="199967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tek Hall Current Sensor 150A for UAV and Robotics - RMRC">
            <a:extLst>
              <a:ext uri="{FF2B5EF4-FFF2-40B4-BE49-F238E27FC236}">
                <a16:creationId xmlns:a16="http://schemas.microsoft.com/office/drawing/2014/main" id="{6FA5A0DF-4876-009A-5626-314148DA9E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125" r="6222" b="4"/>
          <a:stretch>
            <a:fillRect/>
          </a:stretch>
        </p:blipFill>
        <p:spPr bwMode="auto">
          <a:xfrm>
            <a:off x="9223523" y="774285"/>
            <a:ext cx="2112264" cy="199967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ICK introduces its new Safe Robotics Area Protection safety system -  EXPO21XX.com NEWS">
            <a:extLst>
              <a:ext uri="{FF2B5EF4-FFF2-40B4-BE49-F238E27FC236}">
                <a16:creationId xmlns:a16="http://schemas.microsoft.com/office/drawing/2014/main" id="{0D87E4FA-1188-17E8-7078-370E1B4A9A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6058" r="2" b="10727"/>
          <a:stretch>
            <a:fillRect/>
          </a:stretch>
        </p:blipFill>
        <p:spPr bwMode="auto">
          <a:xfrm>
            <a:off x="6946667" y="2942704"/>
            <a:ext cx="4389120" cy="3213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70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4" name="Rectangle 4123">
            <a:extLst>
              <a:ext uri="{FF2B5EF4-FFF2-40B4-BE49-F238E27FC236}">
                <a16:creationId xmlns:a16="http://schemas.microsoft.com/office/drawing/2014/main" id="{1A042C51-0ACE-419E-A039-04AD72522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26" name="Group 412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127" name="Rectangle 412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8" name="Rectangle 412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9" name="Rectangle 412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31" name="Rectangle 413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6B40A5-0BFF-FEC2-C08A-79AC16CA1776}"/>
              </a:ext>
            </a:extLst>
          </p:cNvPr>
          <p:cNvSpPr>
            <a:spLocks noGrp="1"/>
          </p:cNvSpPr>
          <p:nvPr>
            <p:ph type="title"/>
          </p:nvPr>
        </p:nvSpPr>
        <p:spPr>
          <a:xfrm>
            <a:off x="1043631" y="873940"/>
            <a:ext cx="4928291" cy="1035781"/>
          </a:xfrm>
        </p:spPr>
        <p:txBody>
          <a:bodyPr anchor="ctr">
            <a:normAutofit/>
          </a:bodyPr>
          <a:lstStyle/>
          <a:p>
            <a:r>
              <a:rPr lang="en-US" sz="3600" dirty="0"/>
              <a:t>Analysis</a:t>
            </a:r>
          </a:p>
        </p:txBody>
      </p:sp>
      <p:sp>
        <p:nvSpPr>
          <p:cNvPr id="3" name="Content Placeholder 2">
            <a:extLst>
              <a:ext uri="{FF2B5EF4-FFF2-40B4-BE49-F238E27FC236}">
                <a16:creationId xmlns:a16="http://schemas.microsoft.com/office/drawing/2014/main" id="{05735BD1-72E9-B175-1D89-0EF20BDDB2B6}"/>
              </a:ext>
            </a:extLst>
          </p:cNvPr>
          <p:cNvSpPr>
            <a:spLocks noGrp="1"/>
          </p:cNvSpPr>
          <p:nvPr>
            <p:ph idx="1"/>
          </p:nvPr>
        </p:nvSpPr>
        <p:spPr>
          <a:xfrm>
            <a:off x="1043631" y="2201083"/>
            <a:ext cx="4991629" cy="4364729"/>
          </a:xfrm>
        </p:spPr>
        <p:txBody>
          <a:bodyPr anchor="ctr">
            <a:normAutofit fontScale="92500" lnSpcReduction="20000"/>
          </a:bodyPr>
          <a:lstStyle/>
          <a:p>
            <a:pPr marL="0" indent="0">
              <a:buNone/>
            </a:pPr>
            <a:r>
              <a:rPr lang="en-US" sz="1700" b="1" dirty="0">
                <a:latin typeface="Arial" panose="020B0604020202020204" pitchFamily="34" charset="0"/>
                <a:cs typeface="Arial" panose="020B0604020202020204" pitchFamily="34" charset="0"/>
              </a:rPr>
              <a:t>Second: Actuators</a:t>
            </a:r>
            <a:endParaRPr lang="ar-EG" sz="1700" b="1" dirty="0">
              <a:latin typeface="Arial" panose="020B0604020202020204" pitchFamily="34" charset="0"/>
              <a:cs typeface="Arial" panose="020B0604020202020204" pitchFamily="34" charset="0"/>
            </a:endParaRPr>
          </a:p>
          <a:p>
            <a:pPr marL="0" indent="0">
              <a:buNone/>
            </a:pPr>
            <a:r>
              <a:rPr lang="en-US" sz="1200" dirty="0">
                <a:latin typeface="Arial" panose="020B0604020202020204" pitchFamily="34" charset="0"/>
                <a:cs typeface="Arial" panose="020B0604020202020204" pitchFamily="34" charset="0"/>
              </a:rPr>
              <a:t>1</a:t>
            </a:r>
            <a:r>
              <a:rPr lang="en-US" sz="1200" b="1" dirty="0">
                <a:latin typeface="Arial" panose="020B0604020202020204" pitchFamily="34" charset="0"/>
                <a:cs typeface="Arial" panose="020B0604020202020204" pitchFamily="34" charset="0"/>
              </a:rPr>
              <a:t>. AC Brushless Servo Motors </a:t>
            </a:r>
          </a:p>
          <a:p>
            <a:pPr marL="0" indent="0">
              <a:buNone/>
            </a:pPr>
            <a:r>
              <a:rPr lang="en-US" sz="1200" dirty="0"/>
              <a:t>These are the primary motors responsible for driving the joints. </a:t>
            </a:r>
          </a:p>
          <a:p>
            <a:pPr marL="0" indent="0">
              <a:buNone/>
            </a:pPr>
            <a:r>
              <a:rPr lang="en-US" sz="1200" dirty="0"/>
              <a:t>Their characteristics include: </a:t>
            </a:r>
          </a:p>
          <a:p>
            <a:pPr lvl="1">
              <a:buFont typeface="Courier New" panose="02070309020205020404" pitchFamily="49" charset="0"/>
              <a:buChar char="o"/>
            </a:pPr>
            <a:r>
              <a:rPr lang="en-US" sz="1200" dirty="0"/>
              <a:t>Operate using AC power </a:t>
            </a:r>
          </a:p>
          <a:p>
            <a:pPr lvl="1">
              <a:buFont typeface="Courier New" panose="02070309020205020404" pitchFamily="49" charset="0"/>
              <a:buChar char="o"/>
            </a:pPr>
            <a:r>
              <a:rPr lang="en-US" sz="1200" dirty="0"/>
              <a:t>High efficiency </a:t>
            </a:r>
          </a:p>
          <a:p>
            <a:pPr lvl="1">
              <a:buFont typeface="Courier New" panose="02070309020205020404" pitchFamily="49" charset="0"/>
              <a:buChar char="o"/>
            </a:pPr>
            <a:r>
              <a:rPr lang="en-US" sz="1200" dirty="0"/>
              <a:t>Excellent dynamic response </a:t>
            </a:r>
          </a:p>
          <a:p>
            <a:pPr lvl="1">
              <a:buFont typeface="Courier New" panose="02070309020205020404" pitchFamily="49" charset="0"/>
              <a:buChar char="o"/>
            </a:pPr>
            <a:r>
              <a:rPr lang="en-US" sz="1200" dirty="0"/>
              <a:t>Smooth movement with minimal vibration </a:t>
            </a:r>
          </a:p>
          <a:p>
            <a:pPr lvl="1">
              <a:buFont typeface="Courier New" panose="02070309020205020404" pitchFamily="49" charset="0"/>
              <a:buChar char="o"/>
            </a:pPr>
            <a:r>
              <a:rPr lang="en-US" sz="1200" dirty="0"/>
              <a:t>Ability to monitor torque and speed in real time </a:t>
            </a:r>
          </a:p>
          <a:p>
            <a:pPr marL="0" indent="0">
              <a:buNone/>
            </a:pPr>
            <a:r>
              <a:rPr lang="en-US" sz="1200" b="1" dirty="0">
                <a:latin typeface="Arial" panose="020B0604020202020204" pitchFamily="34" charset="0"/>
                <a:cs typeface="Arial" panose="020B0604020202020204" pitchFamily="34" charset="0"/>
              </a:rPr>
              <a:t>2. Harmonic Drive Gearboxes </a:t>
            </a:r>
          </a:p>
          <a:p>
            <a:pPr marL="0" indent="0">
              <a:buNone/>
            </a:pPr>
            <a:r>
              <a:rPr lang="en-US" sz="1200" dirty="0"/>
              <a:t>Among the most accurate motion-transmission systems in robotics. </a:t>
            </a:r>
          </a:p>
          <a:p>
            <a:pPr marL="0" indent="0">
              <a:buNone/>
            </a:pPr>
            <a:r>
              <a:rPr lang="en-US" sz="1200" dirty="0"/>
              <a:t>Their advantages: </a:t>
            </a:r>
          </a:p>
          <a:p>
            <a:pPr lvl="1">
              <a:buFont typeface="Courier New" panose="02070309020205020404" pitchFamily="49" charset="0"/>
              <a:buChar char="o"/>
            </a:pPr>
            <a:r>
              <a:rPr lang="en-US" sz="1200" dirty="0"/>
              <a:t>Nearly zero backlash </a:t>
            </a:r>
          </a:p>
          <a:p>
            <a:pPr lvl="1">
              <a:buFont typeface="Courier New" panose="02070309020205020404" pitchFamily="49" charset="0"/>
              <a:buChar char="o"/>
            </a:pPr>
            <a:r>
              <a:rPr lang="en-US" sz="1200" dirty="0"/>
              <a:t>High reduction ratio </a:t>
            </a:r>
          </a:p>
          <a:p>
            <a:pPr lvl="1">
              <a:buFont typeface="Courier New" panose="02070309020205020404" pitchFamily="49" charset="0"/>
              <a:buChar char="o"/>
            </a:pPr>
            <a:r>
              <a:rPr lang="en-US" sz="1200" dirty="0"/>
              <a:t>Compact size and lightweight </a:t>
            </a:r>
          </a:p>
          <a:p>
            <a:pPr lvl="1">
              <a:buFont typeface="Courier New" panose="02070309020205020404" pitchFamily="49" charset="0"/>
              <a:buChar char="o"/>
            </a:pPr>
            <a:r>
              <a:rPr lang="en-US" sz="1200" dirty="0"/>
              <a:t>Significantly increase motor output torque </a:t>
            </a:r>
          </a:p>
          <a:p>
            <a:pPr marL="0" indent="0">
              <a:buNone/>
            </a:pPr>
            <a:r>
              <a:rPr lang="en-US" sz="1200" b="1" dirty="0">
                <a:latin typeface="Arial" panose="020B0604020202020204" pitchFamily="34" charset="0"/>
                <a:cs typeface="Arial" panose="020B0604020202020204" pitchFamily="34" charset="0"/>
              </a:rPr>
              <a:t>3. Mechanical Holding Brakes </a:t>
            </a:r>
          </a:p>
          <a:p>
            <a:pPr marL="0" indent="0">
              <a:buNone/>
            </a:pPr>
            <a:r>
              <a:rPr lang="en-US" sz="1200" dirty="0"/>
              <a:t>Installed in selected joints to maintain the robot’s position during: </a:t>
            </a:r>
          </a:p>
          <a:p>
            <a:pPr lvl="1">
              <a:buFont typeface="Courier New" panose="02070309020205020404" pitchFamily="49" charset="0"/>
              <a:buChar char="o"/>
            </a:pPr>
            <a:r>
              <a:rPr lang="en-US" sz="1200" dirty="0"/>
              <a:t>Power loss </a:t>
            </a:r>
          </a:p>
          <a:p>
            <a:pPr lvl="1">
              <a:buFont typeface="Courier New" panose="02070309020205020404" pitchFamily="49" charset="0"/>
              <a:buChar char="o"/>
            </a:pPr>
            <a:r>
              <a:rPr lang="en-US" sz="1200" dirty="0"/>
              <a:t>Robot shutdown </a:t>
            </a:r>
          </a:p>
          <a:p>
            <a:pPr marL="0" indent="0">
              <a:buNone/>
            </a:pPr>
            <a:endParaRPr lang="en-US" sz="600" dirty="0"/>
          </a:p>
        </p:txBody>
      </p:sp>
      <p:pic>
        <p:nvPicPr>
          <p:cNvPr id="4102" name="Picture 6" descr="MS - Design and analysis of a hollow-ring permanent magnet brake for robot  joints">
            <a:extLst>
              <a:ext uri="{FF2B5EF4-FFF2-40B4-BE49-F238E27FC236}">
                <a16:creationId xmlns:a16="http://schemas.microsoft.com/office/drawing/2014/main" id="{20899703-2A9B-3950-332C-954B6B5DE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309" b="2"/>
          <a:stretch>
            <a:fillRect/>
          </a:stretch>
        </p:blipFill>
        <p:spPr bwMode="auto">
          <a:xfrm>
            <a:off x="6788384" y="613148"/>
            <a:ext cx="2212848" cy="2130052"/>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PGFUN Harmonic Gear Drive Reducer Small Strain Wave Getriebe Getriebe 30:1  Rotary Reduction Actuator, Passend für Nema 17 Schrittmotor : Amazon.de:  Gewerbe, Industrie &amp; Wissenschaft">
            <a:extLst>
              <a:ext uri="{FF2B5EF4-FFF2-40B4-BE49-F238E27FC236}">
                <a16:creationId xmlns:a16="http://schemas.microsoft.com/office/drawing/2014/main" id="{F9ECF4A7-83AD-E9E5-647F-F7FA2425C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742" r="-2" b="-2"/>
          <a:stretch>
            <a:fillRect/>
          </a:stretch>
        </p:blipFill>
        <p:spPr bwMode="auto">
          <a:xfrm>
            <a:off x="9140952" y="613147"/>
            <a:ext cx="2212848" cy="2130052"/>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BLDC &amp; AC servo motors w/ encoders, NEMA 23 &amp; 34">
            <a:extLst>
              <a:ext uri="{FF2B5EF4-FFF2-40B4-BE49-F238E27FC236}">
                <a16:creationId xmlns:a16="http://schemas.microsoft.com/office/drawing/2014/main" id="{59C7C438-FBFC-9B94-5A85-BD29C09F08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1718" r="5172" b="-1"/>
          <a:stretch>
            <a:fillRect/>
          </a:stretch>
        </p:blipFill>
        <p:spPr bwMode="auto">
          <a:xfrm>
            <a:off x="6788383" y="2884516"/>
            <a:ext cx="4565417" cy="3323430"/>
          </a:xfrm>
          <a:prstGeom prst="rect">
            <a:avLst/>
          </a:prstGeom>
          <a:noFill/>
          <a:extLst>
            <a:ext uri="{909E8E84-426E-40DD-AFC4-6F175D3DCCD1}">
              <a14:hiddenFill xmlns:a14="http://schemas.microsoft.com/office/drawing/2010/main">
                <a:solidFill>
                  <a:srgbClr val="FFFFFF"/>
                </a:solidFill>
              </a14:hiddenFill>
            </a:ext>
          </a:extLst>
        </p:spPr>
      </p:pic>
      <p:cxnSp>
        <p:nvCxnSpPr>
          <p:cNvPr id="4133" name="Straight Connector 413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AutoShape 4" descr="ZD Strain Wave Harmonic Drive Zero Backlash Robot Joint Reducer Gearbox For  Collaborative Robotics - gear box, cycloidal reducer | Made-in-China.com">
            <a:extLst>
              <a:ext uri="{FF2B5EF4-FFF2-40B4-BE49-F238E27FC236}">
                <a16:creationId xmlns:a16="http://schemas.microsoft.com/office/drawing/2014/main" id="{95AE74B6-816E-09AE-BAC0-28BA68B7013D}"/>
              </a:ext>
            </a:extLst>
          </p:cNvPr>
          <p:cNvSpPr>
            <a:spLocks noChangeAspect="1" noChangeArrowheads="1"/>
          </p:cNvSpPr>
          <p:nvPr/>
        </p:nvSpPr>
        <p:spPr bwMode="auto">
          <a:xfrm>
            <a:off x="7729947" y="3616654"/>
            <a:ext cx="245747" cy="2457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11371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4" name="Freeform: Shape 1043">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Actuation of robot arm and hand. We actuate the robot hand via the ...">
            <a:extLst>
              <a:ext uri="{FF2B5EF4-FFF2-40B4-BE49-F238E27FC236}">
                <a16:creationId xmlns:a16="http://schemas.microsoft.com/office/drawing/2014/main" id="{3E03A891-A557-C157-8592-8D9153797E4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41053" y="635914"/>
            <a:ext cx="4777381" cy="541346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1046" name="Arc 1045">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2A99C4-26A9-69A9-E2FE-67CD2290B443}"/>
              </a:ext>
            </a:extLst>
          </p:cNvPr>
          <p:cNvSpPr>
            <a:spLocks noGrp="1"/>
          </p:cNvSpPr>
          <p:nvPr>
            <p:ph type="title"/>
          </p:nvPr>
        </p:nvSpPr>
        <p:spPr>
          <a:xfrm>
            <a:off x="838201" y="479493"/>
            <a:ext cx="5257800" cy="1325563"/>
          </a:xfrm>
        </p:spPr>
        <p:txBody>
          <a:bodyPr>
            <a:normAutofit/>
          </a:bodyPr>
          <a:lstStyle/>
          <a:p>
            <a:r>
              <a:rPr lang="en-US"/>
              <a:t>Analysis</a:t>
            </a:r>
            <a:endParaRPr lang="en-US" dirty="0"/>
          </a:p>
        </p:txBody>
      </p:sp>
      <p:sp>
        <p:nvSpPr>
          <p:cNvPr id="3" name="Content Placeholder 2">
            <a:extLst>
              <a:ext uri="{FF2B5EF4-FFF2-40B4-BE49-F238E27FC236}">
                <a16:creationId xmlns:a16="http://schemas.microsoft.com/office/drawing/2014/main" id="{56811B68-CA72-E2FA-B266-08AFFB3E2406}"/>
              </a:ext>
            </a:extLst>
          </p:cNvPr>
          <p:cNvSpPr>
            <a:spLocks noGrp="1"/>
          </p:cNvSpPr>
          <p:nvPr>
            <p:ph idx="1"/>
          </p:nvPr>
        </p:nvSpPr>
        <p:spPr>
          <a:xfrm>
            <a:off x="838201" y="1984443"/>
            <a:ext cx="5257800" cy="4192520"/>
          </a:xfrm>
        </p:spPr>
        <p:txBody>
          <a:bodyPr>
            <a:normAutofit fontScale="92500" lnSpcReduction="10000"/>
          </a:bodyPr>
          <a:lstStyle/>
          <a:p>
            <a:pPr marL="0" indent="0">
              <a:buNone/>
            </a:pPr>
            <a:r>
              <a:rPr lang="en-US" sz="2000" b="1" dirty="0"/>
              <a:t>In Gripper:</a:t>
            </a:r>
          </a:p>
          <a:p>
            <a:pPr marL="0" indent="0">
              <a:buNone/>
            </a:pPr>
            <a:r>
              <a:rPr lang="en-US" sz="2000" b="1" dirty="0"/>
              <a:t>Sensors</a:t>
            </a:r>
          </a:p>
          <a:p>
            <a:pPr marL="0" indent="0">
              <a:buNone/>
            </a:pPr>
            <a:r>
              <a:rPr lang="en-US" sz="2000" b="1" dirty="0"/>
              <a:t>1.Distance Sensor (Infrared or Optical Range Sensor):</a:t>
            </a:r>
          </a:p>
          <a:p>
            <a:pPr lvl="1"/>
            <a:r>
              <a:rPr lang="en-US" sz="2000" dirty="0"/>
              <a:t>Mounted near the </a:t>
            </a:r>
            <a:r>
              <a:rPr lang="en-US" sz="2000" b="1" dirty="0"/>
              <a:t>front of the gripper</a:t>
            </a:r>
            <a:r>
              <a:rPr lang="en-US" sz="2000" dirty="0"/>
              <a:t>.</a:t>
            </a:r>
          </a:p>
          <a:p>
            <a:pPr lvl="1"/>
            <a:r>
              <a:rPr lang="en-US" sz="2000" dirty="0"/>
              <a:t>Measures the </a:t>
            </a:r>
            <a:r>
              <a:rPr lang="en-US" sz="2000" b="1" dirty="0"/>
              <a:t>distance to the incoming fruit</a:t>
            </a:r>
            <a:r>
              <a:rPr lang="en-US" sz="2000" dirty="0"/>
              <a:t>.</a:t>
            </a:r>
          </a:p>
          <a:p>
            <a:pPr lvl="1"/>
            <a:r>
              <a:rPr lang="en-US" sz="2000" dirty="0"/>
              <a:t>Used to detect when a fruit is close enough to begin gripping.</a:t>
            </a:r>
          </a:p>
          <a:p>
            <a:pPr marL="0" indent="0">
              <a:buNone/>
            </a:pPr>
            <a:r>
              <a:rPr lang="en-US" sz="2000" b="1" dirty="0"/>
              <a:t>2.Wrist Position Sensor (Not inside the gripper, but used with it)</a:t>
            </a:r>
          </a:p>
          <a:p>
            <a:pPr lvl="1"/>
            <a:r>
              <a:rPr lang="en-US" sz="2000" dirty="0"/>
              <a:t>Measures the </a:t>
            </a:r>
            <a:r>
              <a:rPr lang="en-US" sz="2000" b="1" dirty="0"/>
              <a:t>angle of the wrist joint</a:t>
            </a:r>
            <a:r>
              <a:rPr lang="en-US" sz="2000" dirty="0"/>
              <a:t>.</a:t>
            </a:r>
          </a:p>
          <a:p>
            <a:pPr lvl="1"/>
            <a:r>
              <a:rPr lang="en-US" sz="2000" dirty="0"/>
              <a:t>Used to detect </a:t>
            </a:r>
            <a:r>
              <a:rPr lang="en-US" sz="2000" b="1" dirty="0"/>
              <a:t>when the arm has rotated to the dropping location</a:t>
            </a:r>
            <a:r>
              <a:rPr lang="en-US" sz="2000" dirty="0"/>
              <a:t>.</a:t>
            </a:r>
          </a:p>
          <a:p>
            <a:pPr marL="0" indent="0">
              <a:buNone/>
            </a:pPr>
            <a:endParaRPr lang="en-US" sz="1300" dirty="0"/>
          </a:p>
        </p:txBody>
      </p:sp>
    </p:spTree>
    <p:extLst>
      <p:ext uri="{BB962C8B-B14F-4D97-AF65-F5344CB8AC3E}">
        <p14:creationId xmlns:p14="http://schemas.microsoft.com/office/powerpoint/2010/main" val="2583170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53E60C6D-4E85-4E14-BCDF-BF15C241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4E7BA-AD5D-9365-DA45-FE658F494085}"/>
              </a:ext>
            </a:extLst>
          </p:cNvPr>
          <p:cNvSpPr>
            <a:spLocks noGrp="1"/>
          </p:cNvSpPr>
          <p:nvPr>
            <p:ph type="title"/>
          </p:nvPr>
        </p:nvSpPr>
        <p:spPr>
          <a:xfrm>
            <a:off x="6151294" y="486184"/>
            <a:ext cx="5397237" cy="1325563"/>
          </a:xfrm>
        </p:spPr>
        <p:txBody>
          <a:bodyPr>
            <a:normAutofit/>
          </a:bodyPr>
          <a:lstStyle/>
          <a:p>
            <a:r>
              <a:rPr lang="en-US" dirty="0"/>
              <a:t>Analysis</a:t>
            </a:r>
          </a:p>
        </p:txBody>
      </p:sp>
      <p:pic>
        <p:nvPicPr>
          <p:cNvPr id="2052" name="Picture 4" descr="OnRobot 3FG15 - Long-Stroke 3-Finger Centric Gripper – Thinkbot ...">
            <a:extLst>
              <a:ext uri="{FF2B5EF4-FFF2-40B4-BE49-F238E27FC236}">
                <a16:creationId xmlns:a16="http://schemas.microsoft.com/office/drawing/2014/main" id="{E7685EFF-F221-DBFE-3C09-5DA6EDA3A4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8353" y="598677"/>
            <a:ext cx="2733294" cy="2733294"/>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a:noFill/>
          <a:extLst>
            <a:ext uri="{909E8E84-426E-40DD-AFC4-6F175D3DCCD1}">
              <a14:hiddenFill xmlns:a14="http://schemas.microsoft.com/office/drawing/2010/main">
                <a:solidFill>
                  <a:srgbClr val="FFFFFF"/>
                </a:solidFill>
              </a14:hiddenFill>
            </a:ext>
          </a:extLst>
        </p:spPr>
      </p:pic>
      <p:sp>
        <p:nvSpPr>
          <p:cNvPr id="2059" name="Freeform: Shape 2058">
            <a:extLst>
              <a:ext uri="{FF2B5EF4-FFF2-40B4-BE49-F238E27FC236}">
                <a16:creationId xmlns:a16="http://schemas.microsoft.com/office/drawing/2014/main" id="{7D42D292-4C48-479B-9E59-E29CD987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3-Finger Adaptive Robot Gripper">
            <a:extLst>
              <a:ext uri="{FF2B5EF4-FFF2-40B4-BE49-F238E27FC236}">
                <a16:creationId xmlns:a16="http://schemas.microsoft.com/office/drawing/2014/main" id="{D5CE5DB7-57FC-4CAF-3B51-1C6E1C8D153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8353" y="3526029"/>
            <a:ext cx="2521462" cy="2733293"/>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AB889F9-542C-25FF-C78B-BFC1D0E187F4}"/>
              </a:ext>
            </a:extLst>
          </p:cNvPr>
          <p:cNvSpPr>
            <a:spLocks noGrp="1"/>
          </p:cNvSpPr>
          <p:nvPr>
            <p:ph idx="1"/>
          </p:nvPr>
        </p:nvSpPr>
        <p:spPr>
          <a:xfrm>
            <a:off x="6151294" y="1946684"/>
            <a:ext cx="5397237" cy="4351338"/>
          </a:xfrm>
        </p:spPr>
        <p:txBody>
          <a:bodyPr>
            <a:normAutofit lnSpcReduction="10000"/>
          </a:bodyPr>
          <a:lstStyle/>
          <a:p>
            <a:pPr marL="0" indent="0">
              <a:buNone/>
            </a:pPr>
            <a:r>
              <a:rPr lang="en-US" sz="2000" b="1" dirty="0"/>
              <a:t>Actuators</a:t>
            </a:r>
            <a:endParaRPr lang="en-US" sz="1800" b="1" dirty="0"/>
          </a:p>
          <a:p>
            <a:pPr marL="0" indent="0">
              <a:buNone/>
            </a:pPr>
            <a:r>
              <a:rPr lang="en-US" sz="1800" b="1" dirty="0"/>
              <a:t>Motor 1 — finger_1_joint_1</a:t>
            </a:r>
          </a:p>
          <a:p>
            <a:pPr lvl="1">
              <a:buFont typeface="Courier New" panose="02070309020205020404" pitchFamily="49" charset="0"/>
              <a:buChar char="o"/>
            </a:pPr>
            <a:r>
              <a:rPr lang="en-US" sz="1800" dirty="0"/>
              <a:t>Controls the </a:t>
            </a:r>
            <a:r>
              <a:rPr lang="en-US" sz="1800" b="1" dirty="0"/>
              <a:t>first finger</a:t>
            </a:r>
            <a:r>
              <a:rPr lang="en-US" sz="1800" dirty="0"/>
              <a:t> (usually the right finger).</a:t>
            </a:r>
          </a:p>
          <a:p>
            <a:pPr lvl="1">
              <a:buFont typeface="Courier New" panose="02070309020205020404" pitchFamily="49" charset="0"/>
              <a:buChar char="o"/>
            </a:pPr>
            <a:r>
              <a:rPr lang="en-US" sz="1800" dirty="0"/>
              <a:t>Rotates to </a:t>
            </a:r>
            <a:r>
              <a:rPr lang="en-US" sz="1800" b="1" dirty="0"/>
              <a:t>open or close</a:t>
            </a:r>
            <a:r>
              <a:rPr lang="en-US" sz="1800" dirty="0"/>
              <a:t> the finger.</a:t>
            </a:r>
          </a:p>
          <a:p>
            <a:pPr lvl="1">
              <a:buFont typeface="Courier New" panose="02070309020205020404" pitchFamily="49" charset="0"/>
              <a:buChar char="o"/>
            </a:pPr>
            <a:r>
              <a:rPr lang="en-US" sz="1800" dirty="0"/>
              <a:t>Increasing the angle → more closing</a:t>
            </a:r>
          </a:p>
          <a:p>
            <a:pPr marL="0" indent="0">
              <a:buNone/>
            </a:pPr>
            <a:r>
              <a:rPr lang="en-US" sz="1800" b="1" dirty="0"/>
              <a:t>Motor 2 — finger_2_joint_1</a:t>
            </a:r>
          </a:p>
          <a:p>
            <a:pPr lvl="1">
              <a:buFont typeface="Courier New" panose="02070309020205020404" pitchFamily="49" charset="0"/>
              <a:buChar char="o"/>
            </a:pPr>
            <a:r>
              <a:rPr lang="en-US" sz="1800" dirty="0"/>
              <a:t>Controls the </a:t>
            </a:r>
            <a:r>
              <a:rPr lang="en-US" sz="1800" b="1" dirty="0"/>
              <a:t>second finger</a:t>
            </a:r>
            <a:r>
              <a:rPr lang="en-US" sz="1800" dirty="0"/>
              <a:t> (left finger).</a:t>
            </a:r>
          </a:p>
          <a:p>
            <a:pPr lvl="1">
              <a:buFont typeface="Courier New" panose="02070309020205020404" pitchFamily="49" charset="0"/>
              <a:buChar char="o"/>
            </a:pPr>
            <a:r>
              <a:rPr lang="en-US" sz="1800" dirty="0"/>
              <a:t>Same mechanics as finger_1.</a:t>
            </a:r>
          </a:p>
          <a:p>
            <a:pPr lvl="1">
              <a:buFont typeface="Courier New" panose="02070309020205020404" pitchFamily="49" charset="0"/>
              <a:buChar char="o"/>
            </a:pPr>
            <a:r>
              <a:rPr lang="en-US" sz="1800" dirty="0"/>
              <a:t>Moves symmetrically to create a stable grip.</a:t>
            </a:r>
          </a:p>
          <a:p>
            <a:pPr marL="0" indent="0">
              <a:buNone/>
            </a:pPr>
            <a:r>
              <a:rPr lang="en-US" sz="1800" b="1" dirty="0"/>
              <a:t>Motor 3 — finger_middle_joint_1</a:t>
            </a:r>
          </a:p>
          <a:p>
            <a:pPr lvl="1">
              <a:buFont typeface="Courier New" panose="02070309020205020404" pitchFamily="49" charset="0"/>
              <a:buChar char="o"/>
            </a:pPr>
            <a:r>
              <a:rPr lang="en-US" sz="1800" dirty="0"/>
              <a:t>Controls the </a:t>
            </a:r>
            <a:r>
              <a:rPr lang="en-US" sz="1800" b="1" dirty="0"/>
              <a:t>middle finger</a:t>
            </a:r>
            <a:r>
              <a:rPr lang="en-US" sz="1800" dirty="0"/>
              <a:t> at the bottom.</a:t>
            </a:r>
          </a:p>
          <a:p>
            <a:pPr lvl="1">
              <a:buFont typeface="Courier New" panose="02070309020205020404" pitchFamily="49" charset="0"/>
              <a:buChar char="o"/>
            </a:pPr>
            <a:r>
              <a:rPr lang="en-US" sz="1800" dirty="0"/>
              <a:t>Works together with the other two fingers to produce a </a:t>
            </a:r>
            <a:r>
              <a:rPr lang="en-US" sz="1800" b="1" dirty="0"/>
              <a:t>3-point gripping pattern</a:t>
            </a:r>
            <a:r>
              <a:rPr lang="en-US" sz="1800" dirty="0"/>
              <a:t>, which is more stable than 2 fingers.</a:t>
            </a:r>
          </a:p>
          <a:p>
            <a:pPr marL="0" indent="0">
              <a:buNone/>
            </a:pPr>
            <a:endParaRPr lang="en-US" sz="1100" dirty="0"/>
          </a:p>
        </p:txBody>
      </p:sp>
      <p:sp>
        <p:nvSpPr>
          <p:cNvPr id="2061" name="Arc 2060">
            <a:extLst>
              <a:ext uri="{FF2B5EF4-FFF2-40B4-BE49-F238E27FC236}">
                <a16:creationId xmlns:a16="http://schemas.microsoft.com/office/drawing/2014/main" id="{533DF362-939D-4EEE-8DC4-6B54607E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95198">
            <a:off x="1539683" y="162676"/>
            <a:ext cx="4083433" cy="4083433"/>
          </a:xfrm>
          <a:prstGeom prst="arc">
            <a:avLst>
              <a:gd name="adj1" fmla="val 17445962"/>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089873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635F3-4C48-8CC8-F84A-02C496DCDD47}"/>
              </a:ext>
            </a:extLst>
          </p:cNvPr>
          <p:cNvSpPr>
            <a:spLocks noGrp="1"/>
          </p:cNvSpPr>
          <p:nvPr>
            <p:ph type="title"/>
          </p:nvPr>
        </p:nvSpPr>
        <p:spPr>
          <a:xfrm>
            <a:off x="589560" y="856180"/>
            <a:ext cx="5279408" cy="1128068"/>
          </a:xfrm>
        </p:spPr>
        <p:txBody>
          <a:bodyPr anchor="ctr">
            <a:normAutofit/>
          </a:bodyPr>
          <a:lstStyle/>
          <a:p>
            <a:r>
              <a:rPr lang="en-US" sz="4000"/>
              <a:t>Analysis</a:t>
            </a:r>
          </a:p>
        </p:txBody>
      </p:sp>
      <p:grpSp>
        <p:nvGrpSpPr>
          <p:cNvPr id="5131" name="Group 513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5132" name="Rectangle 513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35" name="Rectangle 513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48A1A4D-30CA-CC4E-9CB9-9FBFF6F3942B}"/>
              </a:ext>
            </a:extLst>
          </p:cNvPr>
          <p:cNvSpPr>
            <a:spLocks noGrp="1"/>
          </p:cNvSpPr>
          <p:nvPr>
            <p:ph idx="1"/>
          </p:nvPr>
        </p:nvSpPr>
        <p:spPr>
          <a:xfrm>
            <a:off x="590719" y="2330505"/>
            <a:ext cx="5278066" cy="3979585"/>
          </a:xfrm>
        </p:spPr>
        <p:txBody>
          <a:bodyPr anchor="ctr">
            <a:normAutofit/>
          </a:bodyPr>
          <a:lstStyle/>
          <a:p>
            <a:pPr marL="0" indent="0">
              <a:buNone/>
            </a:pPr>
            <a:r>
              <a:rPr lang="en-US" sz="1900" b="1" dirty="0">
                <a:latin typeface="Arial" panose="020B0604020202020204" pitchFamily="34" charset="0"/>
                <a:cs typeface="Arial" panose="020B0604020202020204" pitchFamily="34" charset="0"/>
              </a:rPr>
              <a:t>Third: Controller Architecture</a:t>
            </a:r>
          </a:p>
          <a:p>
            <a:pPr marL="0" indent="0">
              <a:buNone/>
            </a:pPr>
            <a:r>
              <a:rPr lang="en-US" sz="1900" dirty="0">
                <a:latin typeface="Arial" panose="020B0604020202020204" pitchFamily="34" charset="0"/>
                <a:cs typeface="Arial" panose="020B0604020202020204" pitchFamily="34" charset="0"/>
              </a:rPr>
              <a:t>Two principal control strategies :</a:t>
            </a:r>
          </a:p>
          <a:p>
            <a:pPr marL="0" indent="0">
              <a:buNone/>
            </a:pPr>
            <a:r>
              <a:rPr lang="en-US" sz="1900" dirty="0">
                <a:latin typeface="Arial" panose="020B0604020202020204" pitchFamily="34" charset="0"/>
                <a:cs typeface="Arial" panose="020B0604020202020204" pitchFamily="34" charset="0"/>
              </a:rPr>
              <a:t>	Independent Joint Control (</a:t>
            </a:r>
            <a:r>
              <a:rPr lang="en-US" sz="1900" b="1" dirty="0">
                <a:latin typeface="Arial" panose="020B0604020202020204" pitchFamily="34" charset="0"/>
                <a:cs typeface="Arial" panose="020B0604020202020204" pitchFamily="34" charset="0"/>
              </a:rPr>
              <a:t>PID</a:t>
            </a:r>
            <a:r>
              <a:rPr lang="en-US" sz="1900" dirty="0">
                <a:latin typeface="Arial" panose="020B0604020202020204" pitchFamily="34" charset="0"/>
                <a:cs typeface="Arial" panose="020B0604020202020204" pitchFamily="34" charset="0"/>
              </a:rPr>
              <a:t>) and 	Computed Torque Control (</a:t>
            </a:r>
            <a:r>
              <a:rPr lang="en-US" sz="1900" b="1" dirty="0">
                <a:latin typeface="Arial" panose="020B0604020202020204" pitchFamily="34" charset="0"/>
                <a:cs typeface="Arial" panose="020B0604020202020204" pitchFamily="34" charset="0"/>
              </a:rPr>
              <a:t>CTC</a:t>
            </a:r>
            <a:r>
              <a:rPr lang="en-US" sz="1900" dirty="0">
                <a:latin typeface="Arial" panose="020B0604020202020204" pitchFamily="34" charset="0"/>
                <a:cs typeface="Arial" panose="020B0604020202020204" pitchFamily="34" charset="0"/>
              </a:rPr>
              <a:t>).</a:t>
            </a:r>
          </a:p>
          <a:p>
            <a:pPr marL="0" indent="0">
              <a:buNone/>
            </a:pPr>
            <a:endParaRPr lang="en-US" sz="1900" dirty="0">
              <a:latin typeface="Arial" panose="020B0604020202020204" pitchFamily="34" charset="0"/>
              <a:cs typeface="Arial" panose="020B0604020202020204" pitchFamily="34" charset="0"/>
            </a:endParaRPr>
          </a:p>
          <a:p>
            <a:pPr marL="0" indent="0">
              <a:buNone/>
            </a:pPr>
            <a:r>
              <a:rPr lang="en-US" sz="1900" b="1" dirty="0">
                <a:latin typeface="Arial" panose="020B0604020202020204" pitchFamily="34" charset="0"/>
                <a:cs typeface="Arial" panose="020B0604020202020204" pitchFamily="34" charset="0"/>
              </a:rPr>
              <a:t>Strategy A: Independent Joint Control (PID)</a:t>
            </a:r>
          </a:p>
          <a:p>
            <a:pPr marL="0" indent="0">
              <a:buNone/>
            </a:pPr>
            <a:r>
              <a:rPr lang="en-US" sz="1900" dirty="0">
                <a:latin typeface="Arial" panose="020B0604020202020204" pitchFamily="34" charset="0"/>
                <a:cs typeface="Arial" panose="020B0604020202020204" pitchFamily="34" charset="0"/>
              </a:rPr>
              <a:t>	This conventional approach treats each joint as an independent control loop, 	neglecting inter-joint coupling under the assumption of sufficiently high gearing 	ratios.</a:t>
            </a:r>
          </a:p>
          <a:p>
            <a:pPr marL="0" indent="0">
              <a:buNone/>
            </a:pPr>
            <a:endParaRPr lang="en-US" sz="1900" b="1" dirty="0"/>
          </a:p>
          <a:p>
            <a:pPr marL="0" indent="0">
              <a:buNone/>
            </a:pPr>
            <a:endParaRPr lang="en-US" sz="1900" b="1" dirty="0"/>
          </a:p>
        </p:txBody>
      </p:sp>
      <p:sp>
        <p:nvSpPr>
          <p:cNvPr id="5137" name="Rectangle 513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9" name="Rectangle 513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A Model-Free-Based Control Method for Robot Manipulators: Achieving  Prescribed Performance and Ensuring Fixed Time Stability">
            <a:extLst>
              <a:ext uri="{FF2B5EF4-FFF2-40B4-BE49-F238E27FC236}">
                <a16:creationId xmlns:a16="http://schemas.microsoft.com/office/drawing/2014/main" id="{12329C90-1D02-EBA3-9A69-6C17A94D27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8060"/>
          <a:stretch>
            <a:fillRect/>
          </a:stretch>
        </p:blipFill>
        <p:spPr bwMode="auto">
          <a:xfrm>
            <a:off x="7083423" y="581892"/>
            <a:ext cx="4397433" cy="2518756"/>
          </a:xfrm>
          <a:prstGeom prst="rect">
            <a:avLst/>
          </a:prstGeom>
          <a:noFill/>
          <a:extLst>
            <a:ext uri="{909E8E84-426E-40DD-AFC4-6F175D3DCCD1}">
              <a14:hiddenFill xmlns:a14="http://schemas.microsoft.com/office/drawing/2010/main">
                <a:solidFill>
                  <a:srgbClr val="FFFFFF"/>
                </a:solidFill>
              </a14:hiddenFill>
            </a:ext>
          </a:extLst>
        </p:spPr>
      </p:pic>
      <p:sp>
        <p:nvSpPr>
          <p:cNvPr id="5141" name="Rectangle 5140">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Robot Joint Control Architecture | Robot Academy">
            <a:extLst>
              <a:ext uri="{FF2B5EF4-FFF2-40B4-BE49-F238E27FC236}">
                <a16:creationId xmlns:a16="http://schemas.microsoft.com/office/drawing/2014/main" id="{016B668C-398C-06D9-A11B-D2295CCB0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36" r="-4" b="-4"/>
          <a:stretch>
            <a:fillRect/>
          </a:stretch>
        </p:blipFill>
        <p:spPr bwMode="auto">
          <a:xfrm>
            <a:off x="7083423" y="3707894"/>
            <a:ext cx="4395569"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073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2454F-1166-C6E1-F939-79F04C9BFA1A}"/>
              </a:ext>
            </a:extLst>
          </p:cNvPr>
          <p:cNvSpPr>
            <a:spLocks noGrp="1"/>
          </p:cNvSpPr>
          <p:nvPr>
            <p:ph type="title"/>
          </p:nvPr>
        </p:nvSpPr>
        <p:spPr>
          <a:xfrm>
            <a:off x="762000" y="1138036"/>
            <a:ext cx="6151418" cy="1402470"/>
          </a:xfrm>
        </p:spPr>
        <p:txBody>
          <a:bodyPr anchor="t">
            <a:normAutofit/>
          </a:bodyPr>
          <a:lstStyle/>
          <a:p>
            <a:r>
              <a:rPr lang="en-US" sz="3200"/>
              <a:t>Analysis</a:t>
            </a:r>
          </a:p>
        </p:txBody>
      </p:sp>
      <p:cxnSp>
        <p:nvCxnSpPr>
          <p:cNvPr id="6155" name="Straight Connector 615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148" name="Picture 4" descr="Multi-Loop PI Control of a Robotic Arm - MATLAB &amp; Simulink">
            <a:extLst>
              <a:ext uri="{FF2B5EF4-FFF2-40B4-BE49-F238E27FC236}">
                <a16:creationId xmlns:a16="http://schemas.microsoft.com/office/drawing/2014/main" id="{2A871CF8-9B88-282D-B1A7-6080D8D9703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43090" y="220229"/>
            <a:ext cx="3318288" cy="19112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8987B34-52BD-44B7-B383-A9202FC74857}"/>
              </a:ext>
            </a:extLst>
          </p:cNvPr>
          <p:cNvSpPr>
            <a:spLocks noGrp="1"/>
          </p:cNvSpPr>
          <p:nvPr>
            <p:ph idx="1"/>
          </p:nvPr>
        </p:nvSpPr>
        <p:spPr>
          <a:xfrm>
            <a:off x="761999" y="1818290"/>
            <a:ext cx="6151418" cy="4771696"/>
          </a:xfrm>
        </p:spPr>
        <p:txBody>
          <a:bodyPr>
            <a:normAutofit fontScale="92500" lnSpcReduction="10000"/>
          </a:bodyPr>
          <a:lstStyle/>
          <a:p>
            <a:pPr marL="0" indent="0">
              <a:buNone/>
            </a:pPr>
            <a:r>
              <a:rPr lang="en-US" sz="1800" dirty="0">
                <a:latin typeface="Arial" panose="020B0604020202020204" pitchFamily="34" charset="0"/>
                <a:cs typeface="Arial" panose="020B0604020202020204" pitchFamily="34" charset="0"/>
              </a:rPr>
              <a:t>The control law for the </a:t>
            </a:r>
            <a:r>
              <a:rPr lang="en-US" sz="1800" i="1" dirty="0" err="1">
                <a:latin typeface="Arial" panose="020B0604020202020204" pitchFamily="34" charset="0"/>
                <a:cs typeface="Arial" panose="020B0604020202020204" pitchFamily="34" charset="0"/>
              </a:rPr>
              <a:t>i</a:t>
            </a:r>
            <a:r>
              <a:rPr lang="en-US" sz="1800" dirty="0" err="1">
                <a:latin typeface="Arial" panose="020B0604020202020204" pitchFamily="34" charset="0"/>
                <a:cs typeface="Arial" panose="020B0604020202020204" pitchFamily="34" charset="0"/>
              </a:rPr>
              <a:t>-th</a:t>
            </a:r>
            <a:r>
              <a:rPr lang="en-US" sz="1800" dirty="0">
                <a:latin typeface="Arial" panose="020B0604020202020204" pitchFamily="34" charset="0"/>
                <a:cs typeface="Arial" panose="020B0604020202020204" pitchFamily="34" charset="0"/>
              </a:rPr>
              <a:t> joint is:</a:t>
            </a: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Kp</a:t>
            </a:r>
            <a:r>
              <a:rPr lang="en-US" sz="1800" dirty="0">
                <a:latin typeface="Arial" panose="020B0604020202020204" pitchFamily="34" charset="0"/>
                <a:cs typeface="Arial" panose="020B0604020202020204" pitchFamily="34" charset="0"/>
              </a:rPr>
              <a:t>: Proportional gain, acting like a spring to reduce     positional  error.</a:t>
            </a:r>
          </a:p>
          <a:p>
            <a:pPr marL="0" indent="0">
              <a:buNone/>
            </a:pP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Kd</a:t>
            </a:r>
            <a:r>
              <a:rPr lang="en-US" sz="1800" dirty="0">
                <a:latin typeface="Arial" panose="020B0604020202020204" pitchFamily="34" charset="0"/>
                <a:cs typeface="Arial" panose="020B0604020202020204" pitchFamily="34" charset="0"/>
              </a:rPr>
              <a:t>: Derivative gain, acting like a damper to reduce oscillations.</a:t>
            </a:r>
          </a:p>
          <a:p>
            <a:pPr marL="0" indent="0">
              <a:buNone/>
            </a:pPr>
            <a:r>
              <a:rPr lang="en-US" sz="1800" dirty="0">
                <a:latin typeface="Arial" panose="020B0604020202020204" pitchFamily="34" charset="0"/>
                <a:cs typeface="Arial" panose="020B0604020202020204" pitchFamily="34" charset="0"/>
              </a:rPr>
              <a:t>• </a:t>
            </a:r>
            <a:r>
              <a:rPr lang="en-US" sz="1800" i="1" dirty="0">
                <a:latin typeface="Arial" panose="020B0604020202020204" pitchFamily="34" charset="0"/>
                <a:cs typeface="Arial" panose="020B0604020202020204" pitchFamily="34" charset="0"/>
              </a:rPr>
              <a:t>Ki</a:t>
            </a:r>
            <a:r>
              <a:rPr lang="en-US" sz="1800" dirty="0">
                <a:latin typeface="Arial" panose="020B0604020202020204" pitchFamily="34" charset="0"/>
                <a:cs typeface="Arial" panose="020B0604020202020204" pitchFamily="34" charset="0"/>
              </a:rPr>
              <a:t>: Integral gain, correcting steady-state errors.</a:t>
            </a:r>
          </a:p>
          <a:p>
            <a:pPr marL="0" indent="0">
              <a:buNone/>
            </a:pPr>
            <a:r>
              <a:rPr lang="en-US" sz="1800" dirty="0">
                <a:latin typeface="Arial" panose="020B0604020202020204" pitchFamily="34" charset="0"/>
                <a:cs typeface="Arial" panose="020B0604020202020204" pitchFamily="34" charset="0"/>
              </a:rPr>
              <a:t>• </a:t>
            </a:r>
            <a:r>
              <a:rPr lang="en-US" sz="1800" i="1" dirty="0">
                <a:latin typeface="Arial" panose="020B0604020202020204" pitchFamily="34" charset="0"/>
                <a:cs typeface="Arial" panose="020B0604020202020204" pitchFamily="34" charset="0"/>
              </a:rPr>
              <a:t>Gi</a:t>
            </a:r>
            <a:r>
              <a:rPr lang="en-US" sz="1800" dirty="0">
                <a:latin typeface="Arial" panose="020B0604020202020204" pitchFamily="34" charset="0"/>
                <a:cs typeface="Arial" panose="020B0604020202020204" pitchFamily="34" charset="0"/>
              </a:rPr>
              <a:t>(</a:t>
            </a:r>
            <a:r>
              <a:rPr lang="en-US" sz="1800" i="1" dirty="0">
                <a:latin typeface="Arial" panose="020B0604020202020204" pitchFamily="34" charset="0"/>
                <a:cs typeface="Arial" panose="020B0604020202020204" pitchFamily="34" charset="0"/>
              </a:rPr>
              <a:t>θ</a:t>
            </a:r>
            <a:r>
              <a:rPr lang="en-US" sz="1800" dirty="0">
                <a:latin typeface="Arial" panose="020B0604020202020204" pitchFamily="34" charset="0"/>
                <a:cs typeface="Arial" panose="020B0604020202020204" pitchFamily="34" charset="0"/>
              </a:rPr>
              <a:t>): Gravity compensation torque for joint </a:t>
            </a:r>
            <a:r>
              <a:rPr lang="en-US" sz="1800" i="1" dirty="0" err="1">
                <a:latin typeface="Arial" panose="020B0604020202020204" pitchFamily="34" charset="0"/>
                <a:cs typeface="Arial" panose="020B0604020202020204" pitchFamily="34" charset="0"/>
              </a:rPr>
              <a:t>i</a:t>
            </a:r>
            <a:r>
              <a:rPr lang="en-US" sz="1800" dirty="0">
                <a:latin typeface="Arial" panose="020B0604020202020204" pitchFamily="34" charset="0"/>
                <a:cs typeface="Arial" panose="020B0604020202020204" pitchFamily="34" charset="0"/>
              </a:rPr>
              <a:t>.</a:t>
            </a:r>
          </a:p>
          <a:p>
            <a:pPr marL="0" indent="0">
              <a:buNone/>
            </a:pP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The gravity compensation term is indispensable since the PID controller alone cannot maintain static equilibrium against the robot’s weight</a:t>
            </a:r>
          </a:p>
        </p:txBody>
      </p:sp>
      <p:pic>
        <p:nvPicPr>
          <p:cNvPr id="6" name="Picture 5">
            <a:extLst>
              <a:ext uri="{FF2B5EF4-FFF2-40B4-BE49-F238E27FC236}">
                <a16:creationId xmlns:a16="http://schemas.microsoft.com/office/drawing/2014/main" id="{73449268-F462-8023-002A-34AD911DC41E}"/>
              </a:ext>
            </a:extLst>
          </p:cNvPr>
          <p:cNvPicPr>
            <a:picLocks noChangeAspect="1"/>
          </p:cNvPicPr>
          <p:nvPr/>
        </p:nvPicPr>
        <p:blipFill>
          <a:blip r:embed="rId4"/>
          <a:stretch>
            <a:fillRect/>
          </a:stretch>
        </p:blipFill>
        <p:spPr>
          <a:xfrm>
            <a:off x="1602079" y="2398403"/>
            <a:ext cx="7958062" cy="767881"/>
          </a:xfrm>
          <a:prstGeom prst="rect">
            <a:avLst/>
          </a:prstGeom>
        </p:spPr>
      </p:pic>
      <p:pic>
        <p:nvPicPr>
          <p:cNvPr id="6150" name="Picture 6" descr="PPT - Gravity Compensation and Compliance Based Force Control for ...">
            <a:extLst>
              <a:ext uri="{FF2B5EF4-FFF2-40B4-BE49-F238E27FC236}">
                <a16:creationId xmlns:a16="http://schemas.microsoft.com/office/drawing/2014/main" id="{5885D8F6-D152-3123-30B9-F0B76C8D841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264235" y="3912060"/>
            <a:ext cx="3297143" cy="24728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647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DC16A-EBC2-2A42-E324-32BFDBFEE311}"/>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8C539437-4262-038C-79EC-9ABEE2AEFA12}"/>
              </a:ext>
            </a:extLst>
          </p:cNvPr>
          <p:cNvSpPr>
            <a:spLocks noGrp="1"/>
          </p:cNvSpPr>
          <p:nvPr>
            <p:ph idx="1"/>
          </p:nvPr>
        </p:nvSpPr>
        <p:spPr>
          <a:xfrm>
            <a:off x="838200" y="1825625"/>
            <a:ext cx="6634655" cy="4351338"/>
          </a:xfrm>
        </p:spPr>
        <p:txBody>
          <a:bodyPr>
            <a:normAutofit fontScale="92500" lnSpcReduction="10000"/>
          </a:bodyPr>
          <a:lstStyle/>
          <a:p>
            <a:pPr marL="0" indent="0">
              <a:buNone/>
            </a:pPr>
            <a:r>
              <a:rPr lang="en-US" b="1" dirty="0">
                <a:latin typeface="Arial" panose="020B0604020202020204" pitchFamily="34" charset="0"/>
                <a:cs typeface="Arial" panose="020B0604020202020204" pitchFamily="34" charset="0"/>
              </a:rPr>
              <a:t>Strategy B: Computed Torque Control (CTC)</a:t>
            </a:r>
          </a:p>
          <a:p>
            <a:pPr marL="0" indent="0">
              <a:buNone/>
            </a:pPr>
            <a:r>
              <a:rPr lang="en-US" dirty="0">
                <a:latin typeface="Arial" panose="020B0604020202020204" pitchFamily="34" charset="0"/>
                <a:cs typeface="Arial" panose="020B0604020202020204" pitchFamily="34" charset="0"/>
              </a:rPr>
              <a:t>This model-based control method utilizes the dynamic model to compensate for nonlinearities in real-time, resulting in improved accuracy particularly in high-speed or precision tasks.</a:t>
            </a:r>
          </a:p>
          <a:p>
            <a:pPr marL="0" indent="0">
              <a:buNone/>
            </a:pPr>
            <a:r>
              <a:rPr lang="en-US" dirty="0">
                <a:latin typeface="Arial" panose="020B0604020202020204" pitchFamily="34" charset="0"/>
                <a:cs typeface="Arial" panose="020B0604020202020204" pitchFamily="34" charset="0"/>
              </a:rPr>
              <a:t>The control law is:</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where the error vectors are:</a:t>
            </a:r>
          </a:p>
          <a:p>
            <a:pPr marL="0" indent="0">
              <a:buNone/>
            </a:pPr>
            <a:endParaRPr lang="en-US" dirty="0"/>
          </a:p>
        </p:txBody>
      </p:sp>
      <p:pic>
        <p:nvPicPr>
          <p:cNvPr id="5" name="Picture 4">
            <a:extLst>
              <a:ext uri="{FF2B5EF4-FFF2-40B4-BE49-F238E27FC236}">
                <a16:creationId xmlns:a16="http://schemas.microsoft.com/office/drawing/2014/main" id="{98D37579-2FBB-7CCA-2019-2787FC7966CB}"/>
              </a:ext>
            </a:extLst>
          </p:cNvPr>
          <p:cNvPicPr>
            <a:picLocks noChangeAspect="1"/>
          </p:cNvPicPr>
          <p:nvPr/>
        </p:nvPicPr>
        <p:blipFill>
          <a:blip r:embed="rId3"/>
          <a:stretch>
            <a:fillRect/>
          </a:stretch>
        </p:blipFill>
        <p:spPr>
          <a:xfrm>
            <a:off x="1180162" y="4668844"/>
            <a:ext cx="5488704" cy="667725"/>
          </a:xfrm>
          <a:prstGeom prst="rect">
            <a:avLst/>
          </a:prstGeom>
        </p:spPr>
      </p:pic>
      <p:pic>
        <p:nvPicPr>
          <p:cNvPr id="7" name="Picture 6">
            <a:extLst>
              <a:ext uri="{FF2B5EF4-FFF2-40B4-BE49-F238E27FC236}">
                <a16:creationId xmlns:a16="http://schemas.microsoft.com/office/drawing/2014/main" id="{896863FB-091F-E14B-4421-E1E160910658}"/>
              </a:ext>
            </a:extLst>
          </p:cNvPr>
          <p:cNvPicPr>
            <a:picLocks noChangeAspect="1"/>
          </p:cNvPicPr>
          <p:nvPr/>
        </p:nvPicPr>
        <p:blipFill>
          <a:blip r:embed="rId4"/>
          <a:stretch>
            <a:fillRect/>
          </a:stretch>
        </p:blipFill>
        <p:spPr>
          <a:xfrm>
            <a:off x="5586152" y="5741445"/>
            <a:ext cx="3211605" cy="603891"/>
          </a:xfrm>
          <a:prstGeom prst="rect">
            <a:avLst/>
          </a:prstGeom>
        </p:spPr>
      </p:pic>
      <p:pic>
        <p:nvPicPr>
          <p:cNvPr id="7170" name="Picture 2" descr="Modeling an Industrial Robot Arm - MATLAB &amp; Simulink Example">
            <a:extLst>
              <a:ext uri="{FF2B5EF4-FFF2-40B4-BE49-F238E27FC236}">
                <a16:creationId xmlns:a16="http://schemas.microsoft.com/office/drawing/2014/main" id="{27BCCC5D-9FBD-621E-E68D-B89C720D42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3169" y="3154229"/>
            <a:ext cx="4815052" cy="211789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2824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E31C5-223A-EAE6-67B7-1AFB0B3F4829}"/>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E7D00BB7-7061-2244-5A36-BEDE650151A5}"/>
              </a:ext>
            </a:extLst>
          </p:cNvPr>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By substituting the control input into the dynamics, the system behaves as a linear double integrator with error dynamics</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This approach greatly enhances control performance but requires precise dynamic parameter</a:t>
            </a:r>
            <a:r>
              <a:rPr lang="ar-EG"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identification and computational resources</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D580DDF6-700E-2BE2-15B5-E0615A6B43E4}"/>
              </a:ext>
            </a:extLst>
          </p:cNvPr>
          <p:cNvPicPr>
            <a:picLocks noChangeAspect="1"/>
          </p:cNvPicPr>
          <p:nvPr/>
        </p:nvPicPr>
        <p:blipFill>
          <a:blip r:embed="rId2"/>
          <a:stretch>
            <a:fillRect/>
          </a:stretch>
        </p:blipFill>
        <p:spPr>
          <a:xfrm>
            <a:off x="4726341" y="2985190"/>
            <a:ext cx="4178306" cy="887620"/>
          </a:xfrm>
          <a:prstGeom prst="rect">
            <a:avLst/>
          </a:prstGeom>
        </p:spPr>
      </p:pic>
    </p:spTree>
    <p:extLst>
      <p:ext uri="{BB962C8B-B14F-4D97-AF65-F5344CB8AC3E}">
        <p14:creationId xmlns:p14="http://schemas.microsoft.com/office/powerpoint/2010/main" val="554985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D0463-47AC-DF0F-6E95-D23A8D72E678}"/>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Analysis</a:t>
            </a:r>
          </a:p>
        </p:txBody>
      </p:sp>
      <p:grpSp>
        <p:nvGrpSpPr>
          <p:cNvPr id="60" name="Group 59">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61" name="Rectangle 60">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781BFB49-2A81-48B0-DAFD-4695DFF98F38}"/>
              </a:ext>
            </a:extLst>
          </p:cNvPr>
          <p:cNvGraphicFramePr>
            <a:graphicFrameLocks noGrp="1"/>
          </p:cNvGraphicFramePr>
          <p:nvPr>
            <p:ph idx="1"/>
            <p:extLst>
              <p:ext uri="{D42A27DB-BD31-4B8C-83A1-F6EECF244321}">
                <p14:modId xmlns:p14="http://schemas.microsoft.com/office/powerpoint/2010/main" val="3186197330"/>
              </p:ext>
            </p:extLst>
          </p:nvPr>
        </p:nvGraphicFramePr>
        <p:xfrm>
          <a:off x="5922492" y="708392"/>
          <a:ext cx="5536003" cy="5382466"/>
        </p:xfrm>
        <a:graphic>
          <a:graphicData uri="http://schemas.openxmlformats.org/drawingml/2006/table">
            <a:tbl>
              <a:tblPr>
                <a:tableStyleId>{ED083AE6-46FA-4A59-8FB0-9F97EB10719F}</a:tableStyleId>
              </a:tblPr>
              <a:tblGrid>
                <a:gridCol w="1531044">
                  <a:extLst>
                    <a:ext uri="{9D8B030D-6E8A-4147-A177-3AD203B41FA5}">
                      <a16:colId xmlns:a16="http://schemas.microsoft.com/office/drawing/2014/main" val="2480513142"/>
                    </a:ext>
                  </a:extLst>
                </a:gridCol>
                <a:gridCol w="1856217">
                  <a:extLst>
                    <a:ext uri="{9D8B030D-6E8A-4147-A177-3AD203B41FA5}">
                      <a16:colId xmlns:a16="http://schemas.microsoft.com/office/drawing/2014/main" val="3590419645"/>
                    </a:ext>
                  </a:extLst>
                </a:gridCol>
                <a:gridCol w="2148742">
                  <a:extLst>
                    <a:ext uri="{9D8B030D-6E8A-4147-A177-3AD203B41FA5}">
                      <a16:colId xmlns:a16="http://schemas.microsoft.com/office/drawing/2014/main" val="2096605259"/>
                    </a:ext>
                  </a:extLst>
                </a:gridCol>
              </a:tblGrid>
              <a:tr h="448753">
                <a:tc>
                  <a:txBody>
                    <a:bodyPr/>
                    <a:lstStyle/>
                    <a:p>
                      <a:pPr algn="l" fontAlgn="ctr">
                        <a:buNone/>
                      </a:pPr>
                      <a:r>
                        <a:rPr lang="en-US" sz="1000" b="1" u="none" strike="noStrike" cap="none" spc="0">
                          <a:solidFill>
                            <a:schemeClr val="tx1"/>
                          </a:solidFill>
                          <a:effectLst/>
                        </a:rPr>
                        <a:t>Feature</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1" u="none" strike="noStrike" cap="none" spc="0">
                          <a:solidFill>
                            <a:schemeClr val="tx1"/>
                          </a:solidFill>
                          <a:effectLst/>
                        </a:rPr>
                        <a:t>Independent Joint Control (PID)</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1" u="none" strike="noStrike" cap="none" spc="0">
                          <a:solidFill>
                            <a:schemeClr val="tx1"/>
                          </a:solidFill>
                          <a:effectLst/>
                        </a:rPr>
                        <a:t>Computed Torque Control (CTC)</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114601304"/>
                  </a:ext>
                </a:extLst>
              </a:tr>
              <a:tr h="448753">
                <a:tc>
                  <a:txBody>
                    <a:bodyPr/>
                    <a:lstStyle/>
                    <a:p>
                      <a:pPr algn="l" fontAlgn="ctr">
                        <a:buNone/>
                      </a:pPr>
                      <a:r>
                        <a:rPr lang="en-US" sz="1000" b="1" u="none" strike="noStrike" cap="none" spc="0">
                          <a:solidFill>
                            <a:schemeClr val="tx1"/>
                          </a:solidFill>
                          <a:effectLst/>
                        </a:rPr>
                        <a:t>Control Philosophy</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Treats each joint as an independent system</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Uses full robot dynamic model to linearize system</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3926686403"/>
                  </a:ext>
                </a:extLst>
              </a:tr>
              <a:tr h="448753">
                <a:tc>
                  <a:txBody>
                    <a:bodyPr/>
                    <a:lstStyle/>
                    <a:p>
                      <a:pPr algn="l" fontAlgn="ctr">
                        <a:buNone/>
                      </a:pPr>
                      <a:r>
                        <a:rPr lang="en-US" sz="1000" b="1" u="none" strike="noStrike" cap="none" spc="0">
                          <a:solidFill>
                            <a:schemeClr val="tx1"/>
                          </a:solidFill>
                          <a:effectLst/>
                        </a:rPr>
                        <a:t>Model Requirement</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 No model needed</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 Requires inertia, Coriolis, gravity terms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324209705"/>
                  </a:ext>
                </a:extLst>
              </a:tr>
              <a:tr h="448753">
                <a:tc>
                  <a:txBody>
                    <a:bodyPr/>
                    <a:lstStyle/>
                    <a:p>
                      <a:pPr algn="l" fontAlgn="ctr">
                        <a:buNone/>
                      </a:pPr>
                      <a:r>
                        <a:rPr lang="en-US" sz="1000" b="1" u="none" strike="noStrike" cap="none" spc="0">
                          <a:solidFill>
                            <a:schemeClr val="tx1"/>
                          </a:solidFill>
                          <a:effectLst/>
                        </a:rPr>
                        <a:t>Dynamic Coupling Handling</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 Ignores coupling</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 Compensates coupling between joints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1946678414"/>
                  </a:ext>
                </a:extLst>
              </a:tr>
              <a:tr h="298312">
                <a:tc>
                  <a:txBody>
                    <a:bodyPr/>
                    <a:lstStyle/>
                    <a:p>
                      <a:pPr algn="l" fontAlgn="ctr">
                        <a:buNone/>
                      </a:pPr>
                      <a:r>
                        <a:rPr lang="en-US" sz="1000" b="1" u="none" strike="noStrike" cap="none" spc="0">
                          <a:solidFill>
                            <a:schemeClr val="tx1"/>
                          </a:solidFill>
                          <a:effectLst/>
                        </a:rPr>
                        <a:t>Gravity Compensation</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Not inherent</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Built-in gravity compensation</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4286658612"/>
                  </a:ext>
                </a:extLst>
              </a:tr>
              <a:tr h="298312">
                <a:tc>
                  <a:txBody>
                    <a:bodyPr/>
                    <a:lstStyle/>
                    <a:p>
                      <a:pPr algn="l" fontAlgn="ctr">
                        <a:buNone/>
                      </a:pPr>
                      <a:r>
                        <a:rPr lang="en-US" sz="1000" b="1" u="none" strike="noStrike" cap="none" spc="0">
                          <a:solidFill>
                            <a:schemeClr val="tx1"/>
                          </a:solidFill>
                          <a:effectLst/>
                        </a:rPr>
                        <a:t>Tracking Performance</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Moderate</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High precision &amp; fast response</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380987652"/>
                  </a:ext>
                </a:extLst>
              </a:tr>
              <a:tr h="448753">
                <a:tc>
                  <a:txBody>
                    <a:bodyPr/>
                    <a:lstStyle/>
                    <a:p>
                      <a:pPr algn="l" fontAlgn="ctr">
                        <a:buNone/>
                      </a:pPr>
                      <a:r>
                        <a:rPr lang="en-US" sz="1000" b="1" u="none" strike="noStrike" cap="none" spc="0">
                          <a:solidFill>
                            <a:schemeClr val="tx1"/>
                          </a:solidFill>
                          <a:effectLst/>
                        </a:rPr>
                        <a:t>Computational Complexity</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Low</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High (matrix calculations)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1614777251"/>
                  </a:ext>
                </a:extLst>
              </a:tr>
              <a:tr h="448753">
                <a:tc>
                  <a:txBody>
                    <a:bodyPr/>
                    <a:lstStyle/>
                    <a:p>
                      <a:pPr algn="l" fontAlgn="ctr">
                        <a:buNone/>
                      </a:pPr>
                      <a:r>
                        <a:rPr lang="en-US" sz="1000" b="1" u="none" strike="noStrike" cap="none" spc="0">
                          <a:solidFill>
                            <a:schemeClr val="tx1"/>
                          </a:solidFill>
                          <a:effectLst/>
                        </a:rPr>
                        <a:t>Ease of Implementation</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Very simple</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Complex, requires modeling &amp; computation</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3831565597"/>
                  </a:ext>
                </a:extLst>
              </a:tr>
              <a:tr h="448753">
                <a:tc>
                  <a:txBody>
                    <a:bodyPr/>
                    <a:lstStyle/>
                    <a:p>
                      <a:pPr algn="l" fontAlgn="ctr">
                        <a:buNone/>
                      </a:pPr>
                      <a:r>
                        <a:rPr lang="en-US" sz="1000" b="1" u="none" strike="noStrike" cap="none" spc="0">
                          <a:solidFill>
                            <a:schemeClr val="tx1"/>
                          </a:solidFill>
                          <a:effectLst/>
                        </a:rPr>
                        <a:t>Tuning Difficulty</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dirty="0">
                          <a:solidFill>
                            <a:schemeClr val="tx1"/>
                          </a:solidFill>
                          <a:effectLst/>
                        </a:rPr>
                        <a:t>Easy (joint-by-joint PID gains)</a:t>
                      </a:r>
                      <a:endParaRPr lang="en-US" sz="1000" b="0" i="0" u="none" strike="noStrike" cap="none" spc="0" dirty="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nn-NO" sz="1000" b="0" u="none" strike="noStrike" cap="none" spc="0">
                          <a:solidFill>
                            <a:schemeClr val="tx1"/>
                          </a:solidFill>
                          <a:effectLst/>
                        </a:rPr>
                        <a:t>Medium–Hard (PD/PID + dynamic model)</a:t>
                      </a:r>
                      <a:endParaRPr lang="nn-NO"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2823476330"/>
                  </a:ext>
                </a:extLst>
              </a:tr>
              <a:tr h="448753">
                <a:tc>
                  <a:txBody>
                    <a:bodyPr/>
                    <a:lstStyle/>
                    <a:p>
                      <a:pPr algn="l" fontAlgn="ctr">
                        <a:buNone/>
                      </a:pPr>
                      <a:r>
                        <a:rPr lang="en-US" sz="1000" b="1" u="none" strike="noStrike" cap="none" spc="0">
                          <a:solidFill>
                            <a:schemeClr val="tx1"/>
                          </a:solidFill>
                          <a:effectLst/>
                        </a:rPr>
                        <a:t>Robustness to Modeling Errors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High (no model dependency)</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Medium (depends on model accuracy)</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1108151345"/>
                  </a:ext>
                </a:extLst>
              </a:tr>
              <a:tr h="448753">
                <a:tc>
                  <a:txBody>
                    <a:bodyPr/>
                    <a:lstStyle/>
                    <a:p>
                      <a:pPr algn="l" fontAlgn="ctr">
                        <a:buNone/>
                      </a:pPr>
                      <a:r>
                        <a:rPr lang="en-US" sz="1000" b="1" u="none" strike="noStrike" cap="none" spc="0">
                          <a:solidFill>
                            <a:schemeClr val="tx1"/>
                          </a:solidFill>
                          <a:effectLst/>
                        </a:rPr>
                        <a:t>Sensitivity to Payload Changes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High (performance degrades)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Low (model compensates load variation)</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3795872250"/>
                  </a:ext>
                </a:extLst>
              </a:tr>
              <a:tr h="298312">
                <a:tc>
                  <a:txBody>
                    <a:bodyPr/>
                    <a:lstStyle/>
                    <a:p>
                      <a:pPr algn="l" fontAlgn="ctr">
                        <a:buNone/>
                      </a:pPr>
                      <a:r>
                        <a:rPr lang="en-US" sz="1000" b="1" u="none" strike="noStrike" cap="none" spc="0">
                          <a:solidFill>
                            <a:schemeClr val="tx1"/>
                          </a:solidFill>
                          <a:effectLst/>
                        </a:rPr>
                        <a:t>Use in Industry</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Low-cost or slow robots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High-end precise manipulators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883999866"/>
                  </a:ext>
                </a:extLst>
              </a:tr>
              <a:tr h="448753">
                <a:tc>
                  <a:txBody>
                    <a:bodyPr/>
                    <a:lstStyle/>
                    <a:p>
                      <a:pPr algn="l" fontAlgn="ctr">
                        <a:buNone/>
                      </a:pPr>
                      <a:r>
                        <a:rPr lang="en-US" sz="1000" b="1" u="none" strike="noStrike" cap="none" spc="0">
                          <a:solidFill>
                            <a:schemeClr val="tx1"/>
                          </a:solidFill>
                          <a:effectLst/>
                        </a:rPr>
                        <a:t>Suitable For</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a:solidFill>
                            <a:schemeClr val="tx1"/>
                          </a:solidFill>
                          <a:effectLst/>
                        </a:rPr>
                        <a:t>Simple or slow movements</a:t>
                      </a:r>
                      <a:endParaRPr lang="en-US" sz="1000" b="0" i="0" u="none" strike="noStrike" cap="none" spc="0">
                        <a:solidFill>
                          <a:schemeClr val="tx1"/>
                        </a:solidFill>
                        <a:effectLst/>
                        <a:latin typeface="Arial" panose="020B0604020202020204" pitchFamily="34" charset="0"/>
                      </a:endParaRPr>
                    </a:p>
                  </a:txBody>
                  <a:tcPr marL="58891" marR="58891" marT="58891" marB="58891" anchor="ctr"/>
                </a:tc>
                <a:tc>
                  <a:txBody>
                    <a:bodyPr/>
                    <a:lstStyle/>
                    <a:p>
                      <a:pPr algn="l" fontAlgn="ctr">
                        <a:buNone/>
                      </a:pPr>
                      <a:r>
                        <a:rPr lang="en-US" sz="1000" b="0" u="none" strike="noStrike" cap="none" spc="0" dirty="0">
                          <a:solidFill>
                            <a:schemeClr val="tx1"/>
                          </a:solidFill>
                          <a:effectLst/>
                        </a:rPr>
                        <a:t>High-speed accurate trajectory tracking</a:t>
                      </a:r>
                      <a:endParaRPr lang="en-US" sz="1000" b="0" i="0" u="none" strike="noStrike" cap="none" spc="0" dirty="0">
                        <a:solidFill>
                          <a:schemeClr val="tx1"/>
                        </a:solidFill>
                        <a:effectLst/>
                        <a:latin typeface="Arial" panose="020B0604020202020204" pitchFamily="34" charset="0"/>
                      </a:endParaRPr>
                    </a:p>
                  </a:txBody>
                  <a:tcPr marL="58891" marR="58891" marT="58891" marB="58891" anchor="ctr"/>
                </a:tc>
                <a:extLst>
                  <a:ext uri="{0D108BD9-81ED-4DB2-BD59-A6C34878D82A}">
                    <a16:rowId xmlns:a16="http://schemas.microsoft.com/office/drawing/2014/main" val="1511495713"/>
                  </a:ext>
                </a:extLst>
              </a:tr>
            </a:tbl>
          </a:graphicData>
        </a:graphic>
      </p:graphicFrame>
    </p:spTree>
    <p:extLst>
      <p:ext uri="{BB962C8B-B14F-4D97-AF65-F5344CB8AC3E}">
        <p14:creationId xmlns:p14="http://schemas.microsoft.com/office/powerpoint/2010/main" val="3469371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D70AE0-9335-04E9-8875-DA96CE1EEBB9}"/>
              </a:ext>
            </a:extLst>
          </p:cNvPr>
          <p:cNvSpPr>
            <a:spLocks noGrp="1"/>
          </p:cNvSpPr>
          <p:nvPr>
            <p:ph type="title"/>
          </p:nvPr>
        </p:nvSpPr>
        <p:spPr>
          <a:xfrm>
            <a:off x="1043631" y="809898"/>
            <a:ext cx="9942716" cy="1554480"/>
          </a:xfrm>
        </p:spPr>
        <p:txBody>
          <a:bodyPr anchor="ctr">
            <a:normAutofit/>
          </a:bodyPr>
          <a:lstStyle/>
          <a:p>
            <a:r>
              <a:rPr lang="en-US" sz="4800" dirty="0"/>
              <a:t>Implement &amp; Design</a:t>
            </a:r>
          </a:p>
        </p:txBody>
      </p:sp>
      <p:sp>
        <p:nvSpPr>
          <p:cNvPr id="3" name="Content Placeholder 2">
            <a:extLst>
              <a:ext uri="{FF2B5EF4-FFF2-40B4-BE49-F238E27FC236}">
                <a16:creationId xmlns:a16="http://schemas.microsoft.com/office/drawing/2014/main" id="{73B85C34-59BD-8AC4-C2B0-5FA151C81509}"/>
              </a:ext>
            </a:extLst>
          </p:cNvPr>
          <p:cNvSpPr>
            <a:spLocks noGrp="1"/>
          </p:cNvSpPr>
          <p:nvPr>
            <p:ph idx="1"/>
          </p:nvPr>
        </p:nvSpPr>
        <p:spPr>
          <a:xfrm>
            <a:off x="1045028" y="2651767"/>
            <a:ext cx="9941319" cy="3833546"/>
          </a:xfrm>
        </p:spPr>
        <p:txBody>
          <a:bodyPr anchor="ctr">
            <a:normAutofit/>
          </a:bodyPr>
          <a:lstStyle/>
          <a:p>
            <a:pPr marL="0" indent="0">
              <a:buNone/>
            </a:pPr>
            <a:r>
              <a:rPr lang="en-US" sz="1600" dirty="0"/>
              <a:t>The design utilizes a </a:t>
            </a:r>
            <a:r>
              <a:rPr lang="en-US" sz="1600" b="1" dirty="0"/>
              <a:t>Finite State Machine (FSM)</a:t>
            </a:r>
            <a:r>
              <a:rPr lang="en-US" sz="1600" dirty="0"/>
              <a:t> in the main controller (</a:t>
            </a:r>
            <a:r>
              <a:rPr lang="en-US" sz="1600" dirty="0" err="1"/>
              <a:t>fruit_sorting_controller.c</a:t>
            </a:r>
            <a:r>
              <a:rPr lang="en-US" sz="1600" dirty="0"/>
              <a:t>) to manage the robot's sorting behavior.</a:t>
            </a:r>
          </a:p>
          <a:p>
            <a:pPr marL="0" indent="0">
              <a:buNone/>
            </a:pPr>
            <a:r>
              <a:rPr lang="en-US" sz="1600" b="1" dirty="0"/>
              <a:t>1. Fruit Generation Controller (</a:t>
            </a:r>
            <a:r>
              <a:rPr lang="en-US" sz="1600" b="1" dirty="0" err="1"/>
              <a:t>fruit_ctrl.c</a:t>
            </a:r>
            <a:r>
              <a:rPr lang="en-US" sz="1600" b="1" dirty="0"/>
              <a:t>)</a:t>
            </a:r>
          </a:p>
          <a:p>
            <a:pPr marL="0" indent="0">
              <a:buNone/>
            </a:pPr>
            <a:r>
              <a:rPr lang="en-US" sz="1600" dirty="0"/>
              <a:t>	This is the </a:t>
            </a:r>
            <a:r>
              <a:rPr lang="en-US" sz="1600" b="1" dirty="0"/>
              <a:t>Supervisor</a:t>
            </a:r>
            <a:r>
              <a:rPr lang="en-US" sz="1600" dirty="0"/>
              <a:t> controller responsible for generating the fruit models on the conveyor belt.</a:t>
            </a:r>
          </a:p>
          <a:p>
            <a:pPr marL="0" indent="0">
              <a:buNone/>
            </a:pPr>
            <a:r>
              <a:rPr lang="en-US" sz="1600" b="1" dirty="0"/>
              <a:t>	Logic:</a:t>
            </a:r>
            <a:r>
              <a:rPr lang="en-US" sz="1600" dirty="0"/>
              <a:t> After a warm-up time of </a:t>
            </a:r>
            <a:r>
              <a:rPr lang="en-US" sz="1600" b="1" dirty="0"/>
              <a:t>7.5 seconds</a:t>
            </a:r>
            <a:r>
              <a:rPr lang="en-US" sz="1600" dirty="0"/>
              <a:t>, the controller randomly selects either an "apple" or an </a:t>
            </a:r>
            <a:r>
              <a:rPr lang="ar-EG" sz="1600" dirty="0"/>
              <a:t>	</a:t>
            </a:r>
            <a:r>
              <a:rPr lang="en-US" sz="1600" dirty="0"/>
              <a:t>"orange" (up to 50 of each type).</a:t>
            </a:r>
          </a:p>
          <a:p>
            <a:pPr marL="0" indent="0">
              <a:buNone/>
            </a:pPr>
            <a:r>
              <a:rPr lang="en-US" sz="1600" b="1" dirty="0"/>
              <a:t>	Mechanism:</a:t>
            </a:r>
            <a:r>
              <a:rPr lang="en-US" sz="1600" dirty="0"/>
              <a:t> It uses the </a:t>
            </a:r>
            <a:r>
              <a:rPr lang="en-US" sz="1600" dirty="0" err="1"/>
              <a:t>Webots</a:t>
            </a:r>
            <a:r>
              <a:rPr lang="en-US" sz="1600" dirty="0"/>
              <a:t> </a:t>
            </a:r>
            <a:r>
              <a:rPr lang="en-US" sz="1600" b="1" dirty="0"/>
              <a:t>Supervisor API</a:t>
            </a:r>
            <a:r>
              <a:rPr lang="en-US" sz="1600" dirty="0"/>
              <a:t> to retrieve the fruit node from the world tree and 	reset its position back onto the conveyor belt's starting point </a:t>
            </a:r>
          </a:p>
          <a:p>
            <a:pPr marL="0" indent="0">
              <a:buNone/>
            </a:pPr>
            <a:r>
              <a:rPr lang="en-US" sz="1600" b="1" dirty="0"/>
              <a:t>2. Fruit Sorting Controller (</a:t>
            </a:r>
            <a:r>
              <a:rPr lang="en-US" sz="1600" b="1" dirty="0" err="1"/>
              <a:t>fruit_sorting_controller.c</a:t>
            </a:r>
            <a:r>
              <a:rPr lang="en-US" sz="1600" b="1" dirty="0"/>
              <a:t>)</a:t>
            </a:r>
          </a:p>
          <a:p>
            <a:pPr marL="0" indent="0">
              <a:buNone/>
            </a:pPr>
            <a:r>
              <a:rPr lang="en-US" sz="1600" dirty="0"/>
              <a:t>	This controller manages the </a:t>
            </a:r>
            <a:r>
              <a:rPr lang="en-US" sz="1600" b="1" dirty="0"/>
              <a:t>UR5e</a:t>
            </a:r>
            <a:r>
              <a:rPr lang="en-US" sz="1600" dirty="0"/>
              <a:t> robot and its sensors to execute the sorting task.</a:t>
            </a:r>
          </a:p>
          <a:p>
            <a:pPr marL="0" indent="0">
              <a:buNone/>
            </a:pPr>
            <a:endParaRPr lang="en-US" sz="1500" dirty="0"/>
          </a:p>
        </p:txBody>
      </p:sp>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2381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3006B7-AC46-C34B-2D7D-69713DEB6B30}"/>
              </a:ext>
            </a:extLst>
          </p:cNvPr>
          <p:cNvSpPr>
            <a:spLocks noGrp="1"/>
          </p:cNvSpPr>
          <p:nvPr>
            <p:ph type="title"/>
          </p:nvPr>
        </p:nvSpPr>
        <p:spPr>
          <a:xfrm>
            <a:off x="645064" y="525982"/>
            <a:ext cx="4282983" cy="1200361"/>
          </a:xfrm>
        </p:spPr>
        <p:txBody>
          <a:bodyPr anchor="b">
            <a:normAutofit/>
          </a:bodyPr>
          <a:lstStyle/>
          <a:p>
            <a:r>
              <a:rPr lang="en-US" sz="3600" dirty="0"/>
              <a:t>Implement &amp; Design</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6CF2444-6FD2-5D7B-08B6-8ADAB0895407}"/>
              </a:ext>
            </a:extLst>
          </p:cNvPr>
          <p:cNvSpPr>
            <a:spLocks noGrp="1"/>
          </p:cNvSpPr>
          <p:nvPr>
            <p:ph idx="1"/>
          </p:nvPr>
        </p:nvSpPr>
        <p:spPr>
          <a:xfrm>
            <a:off x="645066" y="2031101"/>
            <a:ext cx="4282984" cy="3511943"/>
          </a:xfrm>
        </p:spPr>
        <p:txBody>
          <a:bodyPr anchor="ctr">
            <a:normAutofit/>
          </a:bodyPr>
          <a:lstStyle/>
          <a:p>
            <a:pPr marL="0" indent="0">
              <a:buNone/>
            </a:pPr>
            <a:r>
              <a:rPr lang="en-US" sz="2400" dirty="0">
                <a:latin typeface="Arial" panose="020B0604020202020204" pitchFamily="34" charset="0"/>
                <a:cs typeface="Arial" panose="020B0604020202020204" pitchFamily="34" charset="0"/>
              </a:rPr>
              <a:t>State Machine (FSM)</a:t>
            </a:r>
          </a:p>
          <a:p>
            <a:pPr marL="0" indent="0">
              <a:buNone/>
            </a:pPr>
            <a:endParaRPr lang="en-US" sz="1800" dirty="0"/>
          </a:p>
          <a:p>
            <a:endParaRPr lang="en-US" sz="1800" dirty="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D5B391E3-7405-38DC-810E-C9E8D2F30FE6}"/>
              </a:ext>
            </a:extLst>
          </p:cNvPr>
          <p:cNvGraphicFramePr>
            <a:graphicFrameLocks noGrp="1"/>
          </p:cNvGraphicFramePr>
          <p:nvPr>
            <p:extLst>
              <p:ext uri="{D42A27DB-BD31-4B8C-83A1-F6EECF244321}">
                <p14:modId xmlns:p14="http://schemas.microsoft.com/office/powerpoint/2010/main" val="1672319731"/>
              </p:ext>
            </p:extLst>
          </p:nvPr>
        </p:nvGraphicFramePr>
        <p:xfrm>
          <a:off x="5791200" y="354959"/>
          <a:ext cx="5824556" cy="5761359"/>
        </p:xfrm>
        <a:graphic>
          <a:graphicData uri="http://schemas.openxmlformats.org/drawingml/2006/table">
            <a:tbl>
              <a:tblPr>
                <a:tableStyleId>{ED083AE6-46FA-4A59-8FB0-9F97EB10719F}</a:tableStyleId>
              </a:tblPr>
              <a:tblGrid>
                <a:gridCol w="1692776">
                  <a:extLst>
                    <a:ext uri="{9D8B030D-6E8A-4147-A177-3AD203B41FA5}">
                      <a16:colId xmlns:a16="http://schemas.microsoft.com/office/drawing/2014/main" val="168534388"/>
                    </a:ext>
                  </a:extLst>
                </a:gridCol>
                <a:gridCol w="2073829">
                  <a:extLst>
                    <a:ext uri="{9D8B030D-6E8A-4147-A177-3AD203B41FA5}">
                      <a16:colId xmlns:a16="http://schemas.microsoft.com/office/drawing/2014/main" val="1934047295"/>
                    </a:ext>
                  </a:extLst>
                </a:gridCol>
                <a:gridCol w="2057951">
                  <a:extLst>
                    <a:ext uri="{9D8B030D-6E8A-4147-A177-3AD203B41FA5}">
                      <a16:colId xmlns:a16="http://schemas.microsoft.com/office/drawing/2014/main" val="2952432868"/>
                    </a:ext>
                  </a:extLst>
                </a:gridCol>
              </a:tblGrid>
              <a:tr h="492247">
                <a:tc>
                  <a:txBody>
                    <a:bodyPr/>
                    <a:lstStyle/>
                    <a:p>
                      <a:pPr rtl="0">
                        <a:buNone/>
                      </a:pPr>
                      <a:r>
                        <a:rPr lang="en-US" sz="1400" b="1">
                          <a:solidFill>
                            <a:srgbClr val="1F1F1F"/>
                          </a:solidFill>
                          <a:effectLst/>
                        </a:rPr>
                        <a:t>State</a:t>
                      </a:r>
                      <a:endParaRPr lang="en-US" sz="1400" dirty="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Action</a:t>
                      </a:r>
                      <a:endParaRPr lang="en-US" sz="140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Transition Trigger</a:t>
                      </a:r>
                      <a:endParaRPr lang="en-US" sz="1400">
                        <a:solidFill>
                          <a:srgbClr val="1F1F1F"/>
                        </a:solidFill>
                        <a:effectLst/>
                        <a:latin typeface="Google Sans Text"/>
                      </a:endParaRPr>
                    </a:p>
                  </a:txBody>
                  <a:tcPr marL="73639" marR="73639" marT="49093" marB="49093" anchor="ctr"/>
                </a:tc>
                <a:extLst>
                  <a:ext uri="{0D108BD9-81ED-4DB2-BD59-A6C34878D82A}">
                    <a16:rowId xmlns:a16="http://schemas.microsoft.com/office/drawing/2014/main" val="3966754363"/>
                  </a:ext>
                </a:extLst>
              </a:tr>
              <a:tr h="804233">
                <a:tc>
                  <a:txBody>
                    <a:bodyPr/>
                    <a:lstStyle/>
                    <a:p>
                      <a:pPr rtl="0">
                        <a:buNone/>
                      </a:pPr>
                      <a:r>
                        <a:rPr lang="en-US" sz="1400" b="1">
                          <a:solidFill>
                            <a:srgbClr val="444746"/>
                          </a:solidFill>
                          <a:effectLst/>
                        </a:rPr>
                        <a:t>WAITING</a:t>
                      </a:r>
                      <a:endParaRPr lang="en-US" sz="1400">
                        <a:solidFill>
                          <a:srgbClr val="1F1F1F"/>
                        </a:solidFill>
                        <a:effectLst/>
                        <a:latin typeface="Google Sans Text"/>
                      </a:endParaRPr>
                    </a:p>
                  </a:txBody>
                  <a:tcPr marL="73639" marR="73639" marT="49093" marB="49093" anchor="ctr"/>
                </a:tc>
                <a:tc>
                  <a:txBody>
                    <a:bodyPr/>
                    <a:lstStyle/>
                    <a:p>
                      <a:pPr rtl="0">
                        <a:buNone/>
                      </a:pPr>
                      <a:r>
                        <a:rPr lang="en-US" sz="1400">
                          <a:solidFill>
                            <a:srgbClr val="1F1F1F"/>
                          </a:solidFill>
                          <a:effectLst/>
                        </a:rPr>
                        <a:t>Robot is idle, gripper open.</a:t>
                      </a:r>
                      <a:endParaRPr lang="en-US" sz="140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Distance Sensor</a:t>
                      </a:r>
                      <a:r>
                        <a:rPr lang="en-US" sz="1400">
                          <a:solidFill>
                            <a:srgbClr val="1F1F1F"/>
                          </a:solidFill>
                          <a:effectLst/>
                        </a:rPr>
                        <a:t> detects fruit (</a:t>
                      </a:r>
                      <a:r>
                        <a:rPr lang="en-US" sz="1400">
                          <a:solidFill>
                            <a:srgbClr val="444746"/>
                          </a:solidFill>
                          <a:effectLst/>
                        </a:rPr>
                        <a:t>&lt; 500</a:t>
                      </a:r>
                      <a:r>
                        <a:rPr lang="en-US" sz="1400">
                          <a:solidFill>
                            <a:srgbClr val="1F1F1F"/>
                          </a:solidFill>
                          <a:effectLst/>
                        </a:rPr>
                        <a:t>).</a:t>
                      </a:r>
                      <a:endParaRPr lang="en-US" sz="1400">
                        <a:solidFill>
                          <a:srgbClr val="1F1F1F"/>
                        </a:solidFill>
                        <a:effectLst/>
                        <a:latin typeface="Google Sans Text"/>
                      </a:endParaRPr>
                    </a:p>
                  </a:txBody>
                  <a:tcPr marL="73639" marR="73639" marT="49093" marB="49093" anchor="ctr"/>
                </a:tc>
                <a:extLst>
                  <a:ext uri="{0D108BD9-81ED-4DB2-BD59-A6C34878D82A}">
                    <a16:rowId xmlns:a16="http://schemas.microsoft.com/office/drawing/2014/main" val="1166051342"/>
                  </a:ext>
                </a:extLst>
              </a:tr>
              <a:tr h="804233">
                <a:tc>
                  <a:txBody>
                    <a:bodyPr/>
                    <a:lstStyle/>
                    <a:p>
                      <a:pPr rtl="0">
                        <a:buNone/>
                      </a:pPr>
                      <a:r>
                        <a:rPr lang="en-US" sz="1400" b="1">
                          <a:solidFill>
                            <a:srgbClr val="444746"/>
                          </a:solidFill>
                          <a:effectLst/>
                        </a:rPr>
                        <a:t>PICKING</a:t>
                      </a:r>
                      <a:endParaRPr lang="en-US" sz="140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Gripper</a:t>
                      </a:r>
                      <a:r>
                        <a:rPr lang="en-US" sz="1400">
                          <a:solidFill>
                            <a:srgbClr val="1F1F1F"/>
                          </a:solidFill>
                          <a:effectLst/>
                        </a:rPr>
                        <a:t> closes (</a:t>
                      </a:r>
                      <a:r>
                        <a:rPr lang="en-US" sz="1400">
                          <a:solidFill>
                            <a:srgbClr val="444746"/>
                          </a:solidFill>
                          <a:effectLst/>
                        </a:rPr>
                        <a:t>0.52 rad</a:t>
                      </a:r>
                      <a:r>
                        <a:rPr lang="en-US" sz="1400">
                          <a:solidFill>
                            <a:srgbClr val="1F1F1F"/>
                          </a:solidFill>
                          <a:effectLst/>
                        </a:rPr>
                        <a:t>) to grasp the fruit.</a:t>
                      </a:r>
                      <a:endParaRPr lang="en-US" sz="1400">
                        <a:solidFill>
                          <a:srgbClr val="1F1F1F"/>
                        </a:solidFill>
                        <a:effectLst/>
                        <a:latin typeface="Google Sans Text"/>
                      </a:endParaRPr>
                    </a:p>
                  </a:txBody>
                  <a:tcPr marL="73639" marR="73639" marT="49093" marB="49093" anchor="ctr"/>
                </a:tc>
                <a:tc>
                  <a:txBody>
                    <a:bodyPr/>
                    <a:lstStyle/>
                    <a:p>
                      <a:pPr rtl="0">
                        <a:buNone/>
                      </a:pPr>
                      <a:r>
                        <a:rPr lang="en-US" sz="1400">
                          <a:solidFill>
                            <a:srgbClr val="1F1F1F"/>
                          </a:solidFill>
                          <a:effectLst/>
                        </a:rPr>
                        <a:t>Internal counter expires (</a:t>
                      </a:r>
                      <a:r>
                        <a:rPr lang="en-US" sz="1400">
                          <a:solidFill>
                            <a:srgbClr val="444746"/>
                          </a:solidFill>
                          <a:effectLst/>
                        </a:rPr>
                        <a:t>counter = 0</a:t>
                      </a:r>
                      <a:r>
                        <a:rPr lang="en-US" sz="1400">
                          <a:solidFill>
                            <a:srgbClr val="1F1F1F"/>
                          </a:solidFill>
                          <a:effectLst/>
                        </a:rPr>
                        <a:t>).</a:t>
                      </a:r>
                      <a:endParaRPr lang="en-US" sz="1400">
                        <a:solidFill>
                          <a:srgbClr val="1F1F1F"/>
                        </a:solidFill>
                        <a:effectLst/>
                        <a:latin typeface="Google Sans Text"/>
                      </a:endParaRPr>
                    </a:p>
                  </a:txBody>
                  <a:tcPr marL="73639" marR="73639" marT="49093" marB="49093" anchor="ctr"/>
                </a:tc>
                <a:extLst>
                  <a:ext uri="{0D108BD9-81ED-4DB2-BD59-A6C34878D82A}">
                    <a16:rowId xmlns:a16="http://schemas.microsoft.com/office/drawing/2014/main" val="1381556978"/>
                  </a:ext>
                </a:extLst>
              </a:tr>
              <a:tr h="1116220">
                <a:tc>
                  <a:txBody>
                    <a:bodyPr/>
                    <a:lstStyle/>
                    <a:p>
                      <a:pPr rtl="0">
                        <a:buNone/>
                      </a:pPr>
                      <a:r>
                        <a:rPr lang="en-US" sz="1400" b="1">
                          <a:solidFill>
                            <a:srgbClr val="444746"/>
                          </a:solidFill>
                          <a:effectLst/>
                        </a:rPr>
                        <a:t>ROTATING</a:t>
                      </a:r>
                      <a:endParaRPr lang="en-US" sz="140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UR5e Arm</a:t>
                      </a:r>
                      <a:r>
                        <a:rPr lang="en-US" sz="1400">
                          <a:solidFill>
                            <a:srgbClr val="1F1F1F"/>
                          </a:solidFill>
                          <a:effectLst/>
                        </a:rPr>
                        <a:t> moves to the target sorting bin position.</a:t>
                      </a:r>
                      <a:endParaRPr lang="en-US" sz="1400" dirty="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Position Sensor</a:t>
                      </a:r>
                      <a:r>
                        <a:rPr lang="en-US" sz="1400">
                          <a:solidFill>
                            <a:srgbClr val="1F1F1F"/>
                          </a:solidFill>
                          <a:effectLst/>
                        </a:rPr>
                        <a:t> on </a:t>
                      </a:r>
                      <a:r>
                        <a:rPr lang="en-US" sz="1400">
                          <a:solidFill>
                            <a:srgbClr val="444746"/>
                          </a:solidFill>
                          <a:effectLst/>
                        </a:rPr>
                        <a:t>wrist_1_joint</a:t>
                      </a:r>
                      <a:r>
                        <a:rPr lang="en-US" sz="1400">
                          <a:solidFill>
                            <a:srgbClr val="1F1F1F"/>
                          </a:solidFill>
                          <a:effectLst/>
                        </a:rPr>
                        <a:t> reaches rotation target (</a:t>
                      </a:r>
                      <a:r>
                        <a:rPr lang="en-US" sz="1400">
                          <a:solidFill>
                            <a:srgbClr val="444746"/>
                          </a:solidFill>
                          <a:effectLst/>
                        </a:rPr>
                        <a:t>&lt; -2.3</a:t>
                      </a:r>
                      <a:r>
                        <a:rPr lang="en-US" sz="1400">
                          <a:solidFill>
                            <a:srgbClr val="1F1F1F"/>
                          </a:solidFill>
                          <a:effectLst/>
                        </a:rPr>
                        <a:t>).</a:t>
                      </a:r>
                      <a:endParaRPr lang="en-US" sz="1400">
                        <a:solidFill>
                          <a:srgbClr val="1F1F1F"/>
                        </a:solidFill>
                        <a:effectLst/>
                        <a:latin typeface="Google Sans Text"/>
                      </a:endParaRPr>
                    </a:p>
                  </a:txBody>
                  <a:tcPr marL="73639" marR="73639" marT="49093" marB="49093" anchor="ctr"/>
                </a:tc>
                <a:extLst>
                  <a:ext uri="{0D108BD9-81ED-4DB2-BD59-A6C34878D82A}">
                    <a16:rowId xmlns:a16="http://schemas.microsoft.com/office/drawing/2014/main" val="3133944380"/>
                  </a:ext>
                </a:extLst>
              </a:tr>
              <a:tr h="1116220">
                <a:tc>
                  <a:txBody>
                    <a:bodyPr/>
                    <a:lstStyle/>
                    <a:p>
                      <a:pPr rtl="0">
                        <a:buNone/>
                      </a:pPr>
                      <a:r>
                        <a:rPr lang="en-US" sz="1400" b="1" dirty="0">
                          <a:solidFill>
                            <a:srgbClr val="444746"/>
                          </a:solidFill>
                          <a:effectLst/>
                        </a:rPr>
                        <a:t>DROPPING</a:t>
                      </a:r>
                      <a:endParaRPr lang="en-US" sz="1400" dirty="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Gripper</a:t>
                      </a:r>
                      <a:r>
                        <a:rPr lang="en-US" sz="1400">
                          <a:solidFill>
                            <a:srgbClr val="1F1F1F"/>
                          </a:solidFill>
                          <a:effectLst/>
                        </a:rPr>
                        <a:t> opens (</a:t>
                      </a:r>
                      <a:r>
                        <a:rPr lang="en-US" sz="1400">
                          <a:solidFill>
                            <a:srgbClr val="444746"/>
                          </a:solidFill>
                          <a:effectLst/>
                        </a:rPr>
                        <a:t>min_position</a:t>
                      </a:r>
                      <a:r>
                        <a:rPr lang="en-US" sz="1400">
                          <a:solidFill>
                            <a:srgbClr val="1F1F1F"/>
                          </a:solidFill>
                          <a:effectLst/>
                        </a:rPr>
                        <a:t>) to release the fruit.</a:t>
                      </a:r>
                      <a:endParaRPr lang="en-US" sz="1400" dirty="0">
                        <a:solidFill>
                          <a:srgbClr val="1F1F1F"/>
                        </a:solidFill>
                        <a:effectLst/>
                        <a:latin typeface="Google Sans Text"/>
                      </a:endParaRPr>
                    </a:p>
                  </a:txBody>
                  <a:tcPr marL="73639" marR="73639" marT="49093" marB="49093" anchor="ctr"/>
                </a:tc>
                <a:tc>
                  <a:txBody>
                    <a:bodyPr/>
                    <a:lstStyle/>
                    <a:p>
                      <a:pPr rtl="0">
                        <a:buNone/>
                      </a:pPr>
                      <a:r>
                        <a:rPr lang="en-US" sz="1400">
                          <a:solidFill>
                            <a:srgbClr val="1F1F1F"/>
                          </a:solidFill>
                          <a:effectLst/>
                        </a:rPr>
                        <a:t>Internal counter expires (</a:t>
                      </a:r>
                      <a:r>
                        <a:rPr lang="en-US" sz="1400">
                          <a:solidFill>
                            <a:srgbClr val="444746"/>
                          </a:solidFill>
                          <a:effectLst/>
                        </a:rPr>
                        <a:t>counter = 0</a:t>
                      </a:r>
                      <a:r>
                        <a:rPr lang="en-US" sz="1400">
                          <a:solidFill>
                            <a:srgbClr val="1F1F1F"/>
                          </a:solidFill>
                          <a:effectLst/>
                        </a:rPr>
                        <a:t>).</a:t>
                      </a:r>
                      <a:endParaRPr lang="en-US" sz="1400">
                        <a:solidFill>
                          <a:srgbClr val="1F1F1F"/>
                        </a:solidFill>
                        <a:effectLst/>
                        <a:latin typeface="Google Sans Text"/>
                      </a:endParaRPr>
                    </a:p>
                  </a:txBody>
                  <a:tcPr marL="73639" marR="73639" marT="49093" marB="49093" anchor="ctr"/>
                </a:tc>
                <a:extLst>
                  <a:ext uri="{0D108BD9-81ED-4DB2-BD59-A6C34878D82A}">
                    <a16:rowId xmlns:a16="http://schemas.microsoft.com/office/drawing/2014/main" val="2891534347"/>
                  </a:ext>
                </a:extLst>
              </a:tr>
              <a:tr h="1428206">
                <a:tc>
                  <a:txBody>
                    <a:bodyPr/>
                    <a:lstStyle/>
                    <a:p>
                      <a:pPr rtl="0">
                        <a:buNone/>
                      </a:pPr>
                      <a:r>
                        <a:rPr lang="en-US" sz="1400" b="1">
                          <a:solidFill>
                            <a:srgbClr val="444746"/>
                          </a:solidFill>
                          <a:effectLst/>
                        </a:rPr>
                        <a:t>ROTATE_BACK</a:t>
                      </a:r>
                      <a:endParaRPr lang="en-US" sz="1400">
                        <a:solidFill>
                          <a:srgbClr val="1F1F1F"/>
                        </a:solidFill>
                        <a:effectLst/>
                        <a:latin typeface="Google Sans Text"/>
                      </a:endParaRPr>
                    </a:p>
                  </a:txBody>
                  <a:tcPr marL="73639" marR="73639" marT="49093" marB="49093" anchor="ctr"/>
                </a:tc>
                <a:tc>
                  <a:txBody>
                    <a:bodyPr/>
                    <a:lstStyle/>
                    <a:p>
                      <a:pPr rtl="0">
                        <a:buNone/>
                      </a:pPr>
                      <a:r>
                        <a:rPr lang="en-US" sz="1400" b="1">
                          <a:solidFill>
                            <a:srgbClr val="1F1F1F"/>
                          </a:solidFill>
                          <a:effectLst/>
                        </a:rPr>
                        <a:t>UR5e Arm</a:t>
                      </a:r>
                      <a:r>
                        <a:rPr lang="en-US" sz="1400">
                          <a:solidFill>
                            <a:srgbClr val="1F1F1F"/>
                          </a:solidFill>
                          <a:effectLst/>
                        </a:rPr>
                        <a:t> returns to the initial waiting position.</a:t>
                      </a:r>
                      <a:endParaRPr lang="en-US" sz="1400" dirty="0">
                        <a:solidFill>
                          <a:srgbClr val="1F1F1F"/>
                        </a:solidFill>
                        <a:effectLst/>
                        <a:latin typeface="Google Sans Text"/>
                      </a:endParaRPr>
                    </a:p>
                  </a:txBody>
                  <a:tcPr marL="73639" marR="73639" marT="49093" marB="49093" anchor="ctr"/>
                </a:tc>
                <a:tc>
                  <a:txBody>
                    <a:bodyPr/>
                    <a:lstStyle/>
                    <a:p>
                      <a:pPr rtl="0">
                        <a:buNone/>
                      </a:pPr>
                      <a:r>
                        <a:rPr lang="en-US" sz="1400" b="1" dirty="0">
                          <a:solidFill>
                            <a:srgbClr val="1F1F1F"/>
                          </a:solidFill>
                          <a:effectLst/>
                        </a:rPr>
                        <a:t>Position Sensor</a:t>
                      </a:r>
                      <a:r>
                        <a:rPr lang="en-US" sz="1400" dirty="0">
                          <a:solidFill>
                            <a:srgbClr val="1F1F1F"/>
                          </a:solidFill>
                          <a:effectLst/>
                        </a:rPr>
                        <a:t> on </a:t>
                      </a:r>
                      <a:r>
                        <a:rPr lang="en-US" sz="1400" dirty="0">
                          <a:solidFill>
                            <a:srgbClr val="444746"/>
                          </a:solidFill>
                          <a:effectLst/>
                        </a:rPr>
                        <a:t>wrist_1_joint</a:t>
                      </a:r>
                      <a:r>
                        <a:rPr lang="en-US" sz="1400" dirty="0">
                          <a:solidFill>
                            <a:srgbClr val="1F1F1F"/>
                          </a:solidFill>
                          <a:effectLst/>
                        </a:rPr>
                        <a:t> returns to origin proximity (</a:t>
                      </a:r>
                      <a:r>
                        <a:rPr lang="en-US" sz="1400" dirty="0">
                          <a:solidFill>
                            <a:srgbClr val="444746"/>
                          </a:solidFill>
                          <a:effectLst/>
                        </a:rPr>
                        <a:t>&gt; -0.1</a:t>
                      </a:r>
                      <a:r>
                        <a:rPr lang="en-US" sz="1400" dirty="0">
                          <a:solidFill>
                            <a:srgbClr val="1F1F1F"/>
                          </a:solidFill>
                          <a:effectLst/>
                        </a:rPr>
                        <a:t>).</a:t>
                      </a:r>
                      <a:endParaRPr lang="en-US" sz="1400" dirty="0">
                        <a:solidFill>
                          <a:srgbClr val="1F1F1F"/>
                        </a:solidFill>
                        <a:effectLst/>
                        <a:latin typeface="Google Sans Text"/>
                      </a:endParaRPr>
                    </a:p>
                  </a:txBody>
                  <a:tcPr marL="73639" marR="73639" marT="49093" marB="49093" anchor="ctr"/>
                </a:tc>
                <a:extLst>
                  <a:ext uri="{0D108BD9-81ED-4DB2-BD59-A6C34878D82A}">
                    <a16:rowId xmlns:a16="http://schemas.microsoft.com/office/drawing/2014/main" val="1018571100"/>
                  </a:ext>
                </a:extLst>
              </a:tr>
            </a:tbl>
          </a:graphicData>
        </a:graphic>
      </p:graphicFrame>
    </p:spTree>
    <p:extLst>
      <p:ext uri="{BB962C8B-B14F-4D97-AF65-F5344CB8AC3E}">
        <p14:creationId xmlns:p14="http://schemas.microsoft.com/office/powerpoint/2010/main" val="438422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omputer screen shot of a diagram&#10;&#10;AI-generated content may be incorrect.">
            <a:extLst>
              <a:ext uri="{FF2B5EF4-FFF2-40B4-BE49-F238E27FC236}">
                <a16:creationId xmlns:a16="http://schemas.microsoft.com/office/drawing/2014/main" id="{9D5F7F3B-B492-01C2-0BC5-34850CF57D6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111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A2262A-F780-B920-162D-38850FD6098D}"/>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Implement &amp; Design</a:t>
            </a:r>
            <a:endParaRPr lang="en-US" sz="3600" dirty="0">
              <a:solidFill>
                <a:schemeClr val="tx1">
                  <a:lumMod val="85000"/>
                  <a:lumOff val="15000"/>
                </a:schemeClr>
              </a:solidFill>
            </a:endParaRP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491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703C09-44A9-4182-8381-553838D9CB53}"/>
              </a:ext>
            </a:extLst>
          </p:cNvPr>
          <p:cNvSpPr>
            <a:spLocks noGrp="1"/>
          </p:cNvSpPr>
          <p:nvPr>
            <p:ph type="title"/>
          </p:nvPr>
        </p:nvSpPr>
        <p:spPr>
          <a:xfrm>
            <a:off x="589560" y="856180"/>
            <a:ext cx="5279408" cy="1128068"/>
          </a:xfrm>
        </p:spPr>
        <p:txBody>
          <a:bodyPr anchor="ctr">
            <a:normAutofit/>
          </a:bodyPr>
          <a:lstStyle/>
          <a:p>
            <a:r>
              <a:rPr lang="en-US" sz="4000"/>
              <a:t>Implement &amp; Design</a:t>
            </a:r>
          </a:p>
        </p:txBody>
      </p:sp>
      <p:grpSp>
        <p:nvGrpSpPr>
          <p:cNvPr id="88" name="Group 8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89" name="Rectangle 8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B427141-9071-F456-79FC-0A47BBC1A0D9}"/>
              </a:ext>
            </a:extLst>
          </p:cNvPr>
          <p:cNvSpPr>
            <a:spLocks noGrp="1"/>
          </p:cNvSpPr>
          <p:nvPr>
            <p:ph idx="1"/>
          </p:nvPr>
        </p:nvSpPr>
        <p:spPr>
          <a:xfrm>
            <a:off x="590719" y="2330505"/>
            <a:ext cx="5278066" cy="3979585"/>
          </a:xfrm>
        </p:spPr>
        <p:txBody>
          <a:bodyPr anchor="ctr">
            <a:normAutofit/>
          </a:bodyPr>
          <a:lstStyle/>
          <a:p>
            <a:pPr marL="0" indent="0">
              <a:buNone/>
            </a:pPr>
            <a:r>
              <a:rPr lang="en-US" sz="1600" b="1" dirty="0">
                <a:latin typeface="Arial" panose="020B0604020202020204" pitchFamily="34" charset="0"/>
                <a:cs typeface="Arial" panose="020B0604020202020204" pitchFamily="34" charset="0"/>
              </a:rPr>
              <a:t>Sensor-Based Sorting Logic</a:t>
            </a:r>
          </a:p>
          <a:p>
            <a:pPr marL="0" indent="0">
              <a:buNone/>
            </a:pPr>
            <a:r>
              <a:rPr lang="en-US" sz="1300" b="1" dirty="0">
                <a:latin typeface="Arial" panose="020B0604020202020204" pitchFamily="34" charset="0"/>
                <a:cs typeface="Arial" panose="020B0604020202020204" pitchFamily="34" charset="0"/>
              </a:rPr>
              <a:t>Distance Sensor:</a:t>
            </a:r>
            <a:r>
              <a:rPr lang="en-US" sz="1300" dirty="0">
                <a:latin typeface="Arial" panose="020B0604020202020204" pitchFamily="34" charset="0"/>
                <a:cs typeface="Arial" panose="020B0604020202020204" pitchFamily="34" charset="0"/>
              </a:rPr>
              <a:t> Detects the presence of an object at the pickup point, triggering the state transition from WAITING to PICKING.</a:t>
            </a:r>
          </a:p>
          <a:p>
            <a:pPr marL="0" indent="0">
              <a:buNone/>
            </a:pPr>
            <a:r>
              <a:rPr lang="en-US" sz="1300" b="1" dirty="0">
                <a:latin typeface="Arial" panose="020B0604020202020204" pitchFamily="34" charset="0"/>
                <a:cs typeface="Arial" panose="020B0604020202020204" pitchFamily="34" charset="0"/>
              </a:rPr>
              <a:t>Camera Recognition:</a:t>
            </a:r>
            <a:r>
              <a:rPr lang="en-US" sz="1300" dirty="0">
                <a:latin typeface="Arial" panose="020B0604020202020204" pitchFamily="34" charset="0"/>
                <a:cs typeface="Arial" panose="020B0604020202020204" pitchFamily="34" charset="0"/>
              </a:rPr>
              <a:t> The camera is enabled for recognition. It determines the fruit type by reading the first character of the object's model name (objects[0].model):</a:t>
            </a:r>
          </a:p>
          <a:p>
            <a:pPr marL="457200" lvl="1" indent="0">
              <a:buNone/>
            </a:pPr>
            <a:r>
              <a:rPr lang="en-US" sz="1300" dirty="0">
                <a:latin typeface="Arial" panose="020B0604020202020204" pitchFamily="34" charset="0"/>
                <a:cs typeface="Arial" panose="020B0604020202020204" pitchFamily="34" charset="0"/>
              </a:rPr>
              <a:t>If the first character is </a:t>
            </a:r>
            <a:r>
              <a:rPr lang="en-US" sz="1300" b="1" dirty="0">
                <a:latin typeface="Arial" panose="020B0604020202020204" pitchFamily="34" charset="0"/>
                <a:cs typeface="Arial" panose="020B0604020202020204" pitchFamily="34" charset="0"/>
              </a:rPr>
              <a:t>'a'</a:t>
            </a:r>
            <a:r>
              <a:rPr lang="en-US" sz="1300" dirty="0">
                <a:latin typeface="Arial" panose="020B0604020202020204" pitchFamily="34" charset="0"/>
                <a:cs typeface="Arial" panose="020B0604020202020204" pitchFamily="34" charset="0"/>
              </a:rPr>
              <a:t> (ASCII 97), the fruit is an </a:t>
            </a:r>
            <a:r>
              <a:rPr lang="en-US" sz="1300" b="1" dirty="0">
                <a:latin typeface="Arial" panose="020B0604020202020204" pitchFamily="34" charset="0"/>
                <a:cs typeface="Arial" panose="020B0604020202020204" pitchFamily="34" charset="0"/>
              </a:rPr>
              <a:t>Apple</a:t>
            </a:r>
            <a:r>
              <a:rPr lang="en-US" sz="1300" dirty="0">
                <a:latin typeface="Arial" panose="020B0604020202020204" pitchFamily="34" charset="0"/>
                <a:cs typeface="Arial" panose="020B0604020202020204" pitchFamily="34" charset="0"/>
              </a:rPr>
              <a:t> (model = 1).</a:t>
            </a:r>
          </a:p>
          <a:p>
            <a:pPr marL="457200" lvl="1" indent="0">
              <a:buNone/>
            </a:pPr>
            <a:r>
              <a:rPr lang="en-US" sz="1300" dirty="0">
                <a:latin typeface="Arial" panose="020B0604020202020204" pitchFamily="34" charset="0"/>
                <a:cs typeface="Arial" panose="020B0604020202020204" pitchFamily="34" charset="0"/>
              </a:rPr>
              <a:t>Otherwise, it is an </a:t>
            </a:r>
            <a:r>
              <a:rPr lang="en-US" sz="1300" b="1" dirty="0">
                <a:latin typeface="Arial" panose="020B0604020202020204" pitchFamily="34" charset="0"/>
                <a:cs typeface="Arial" panose="020B0604020202020204" pitchFamily="34" charset="0"/>
              </a:rPr>
              <a:t>Orange</a:t>
            </a:r>
            <a:r>
              <a:rPr lang="en-US" sz="1300" dirty="0">
                <a:latin typeface="Arial" panose="020B0604020202020204" pitchFamily="34" charset="0"/>
                <a:cs typeface="Arial" panose="020B0604020202020204" pitchFamily="34" charset="0"/>
              </a:rPr>
              <a:t> (model = 0).</a:t>
            </a:r>
          </a:p>
          <a:p>
            <a:pPr marL="0" indent="0">
              <a:buNone/>
            </a:pPr>
            <a:r>
              <a:rPr lang="en-US" sz="1300" b="1" dirty="0">
                <a:latin typeface="Arial" panose="020B0604020202020204" pitchFamily="34" charset="0"/>
                <a:cs typeface="Arial" panose="020B0604020202020204" pitchFamily="34" charset="0"/>
              </a:rPr>
              <a:t>Arm Movement:</a:t>
            </a:r>
            <a:r>
              <a:rPr lang="en-US" sz="1300" dirty="0">
                <a:latin typeface="Arial" panose="020B0604020202020204" pitchFamily="34" charset="0"/>
                <a:cs typeface="Arial" panose="020B0604020202020204" pitchFamily="34" charset="0"/>
              </a:rPr>
              <a:t> The variable model dictates the target arm movement:</a:t>
            </a:r>
          </a:p>
          <a:p>
            <a:pPr marL="457200" lvl="1" indent="0">
              <a:buNone/>
            </a:pPr>
            <a:r>
              <a:rPr lang="en-US" sz="1300" b="1" dirty="0">
                <a:latin typeface="Arial" panose="020B0604020202020204" pitchFamily="34" charset="0"/>
                <a:cs typeface="Arial" panose="020B0604020202020204" pitchFamily="34" charset="0"/>
              </a:rPr>
              <a:t>Orange (model = 0):</a:t>
            </a:r>
            <a:r>
              <a:rPr lang="en-US" sz="1300" dirty="0">
                <a:latin typeface="Arial" panose="020B0604020202020204" pitchFamily="34" charset="0"/>
                <a:cs typeface="Arial" panose="020B0604020202020204" pitchFamily="34" charset="0"/>
              </a:rPr>
              <a:t> The robot sets the position for all 5 joints (</a:t>
            </a:r>
            <a:r>
              <a:rPr lang="en-US" sz="1300" dirty="0" err="1">
                <a:latin typeface="Arial" panose="020B0604020202020204" pitchFamily="34" charset="0"/>
                <a:cs typeface="Arial" panose="020B0604020202020204" pitchFamily="34" charset="0"/>
              </a:rPr>
              <a:t>i</a:t>
            </a:r>
            <a:r>
              <a:rPr lang="en-US" sz="1300" dirty="0">
                <a:latin typeface="Arial" panose="020B0604020202020204" pitchFamily="34" charset="0"/>
                <a:cs typeface="Arial" panose="020B0604020202020204" pitchFamily="34" charset="0"/>
              </a:rPr>
              <a:t> = 0 to 4), leading to the </a:t>
            </a:r>
            <a:r>
              <a:rPr lang="en-US" sz="1300" b="1" dirty="0">
                <a:latin typeface="Arial" panose="020B0604020202020204" pitchFamily="34" charset="0"/>
                <a:cs typeface="Arial" panose="020B0604020202020204" pitchFamily="34" charset="0"/>
              </a:rPr>
              <a:t>Orange Bin</a:t>
            </a:r>
            <a:r>
              <a:rPr lang="en-US" sz="1300" dirty="0">
                <a:latin typeface="Arial" panose="020B0604020202020204" pitchFamily="34" charset="0"/>
                <a:cs typeface="Arial" panose="020B0604020202020204" pitchFamily="34" charset="0"/>
              </a:rPr>
              <a:t>.</a:t>
            </a:r>
          </a:p>
          <a:p>
            <a:pPr marL="457200" lvl="1" indent="0">
              <a:buNone/>
            </a:pPr>
            <a:r>
              <a:rPr lang="en-US" sz="1300" b="1" dirty="0">
                <a:latin typeface="Arial" panose="020B0604020202020204" pitchFamily="34" charset="0"/>
                <a:cs typeface="Arial" panose="020B0604020202020204" pitchFamily="34" charset="0"/>
              </a:rPr>
              <a:t>Apple (model = 1):</a:t>
            </a:r>
            <a:r>
              <a:rPr lang="en-US" sz="1300" dirty="0">
                <a:latin typeface="Arial" panose="020B0604020202020204" pitchFamily="34" charset="0"/>
                <a:cs typeface="Arial" panose="020B0604020202020204" pitchFamily="34" charset="0"/>
              </a:rPr>
              <a:t> The robot sets the position for joints 1 through 4 (</a:t>
            </a:r>
            <a:r>
              <a:rPr lang="en-US" sz="1300" dirty="0" err="1">
                <a:latin typeface="Arial" panose="020B0604020202020204" pitchFamily="34" charset="0"/>
                <a:cs typeface="Arial" panose="020B0604020202020204" pitchFamily="34" charset="0"/>
              </a:rPr>
              <a:t>i</a:t>
            </a:r>
            <a:r>
              <a:rPr lang="en-US" sz="1300" dirty="0">
                <a:latin typeface="Arial" panose="020B0604020202020204" pitchFamily="34" charset="0"/>
                <a:cs typeface="Arial" panose="020B0604020202020204" pitchFamily="34" charset="0"/>
              </a:rPr>
              <a:t> = 1 to 4), which results in a different trajectory leading to the </a:t>
            </a:r>
            <a:r>
              <a:rPr lang="en-US" sz="1300" b="1" dirty="0">
                <a:latin typeface="Arial" panose="020B0604020202020204" pitchFamily="34" charset="0"/>
                <a:cs typeface="Arial" panose="020B0604020202020204" pitchFamily="34" charset="0"/>
              </a:rPr>
              <a:t>Apple Bin</a:t>
            </a:r>
            <a:r>
              <a:rPr lang="en-US" sz="1300" dirty="0">
                <a:latin typeface="Arial" panose="020B0604020202020204" pitchFamily="34" charset="0"/>
                <a:cs typeface="Arial" panose="020B0604020202020204" pitchFamily="34" charset="0"/>
              </a:rPr>
              <a:t>.</a:t>
            </a:r>
          </a:p>
          <a:p>
            <a:pPr marL="0" indent="0">
              <a:buNone/>
            </a:pPr>
            <a:endParaRPr lang="en-US" sz="1300" dirty="0"/>
          </a:p>
        </p:txBody>
      </p:sp>
      <p:sp>
        <p:nvSpPr>
          <p:cNvPr id="94" name="Rectangle 9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D37DF2B-9E46-9ADF-475A-963CADCAE867}"/>
              </a:ext>
            </a:extLst>
          </p:cNvPr>
          <p:cNvPicPr>
            <a:picLocks noChangeAspect="1"/>
          </p:cNvPicPr>
          <p:nvPr/>
        </p:nvPicPr>
        <p:blipFill>
          <a:blip r:embed="rId3"/>
          <a:srcRect r="10088"/>
          <a:stretch>
            <a:fillRect/>
          </a:stretch>
        </p:blipFill>
        <p:spPr>
          <a:xfrm>
            <a:off x="7083437" y="581892"/>
            <a:ext cx="4397404" cy="2518756"/>
          </a:xfrm>
          <a:prstGeom prst="rect">
            <a:avLst/>
          </a:prstGeom>
        </p:spPr>
      </p:pic>
      <p:sp>
        <p:nvSpPr>
          <p:cNvPr id="98" name="Rectangle 97">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0B4EB67-6D80-CEC2-DBBC-3CB285EDB5AC}"/>
              </a:ext>
            </a:extLst>
          </p:cNvPr>
          <p:cNvPicPr>
            <a:picLocks noChangeAspect="1"/>
          </p:cNvPicPr>
          <p:nvPr/>
        </p:nvPicPr>
        <p:blipFill>
          <a:blip r:embed="rId4"/>
          <a:stretch>
            <a:fillRect/>
          </a:stretch>
        </p:blipFill>
        <p:spPr>
          <a:xfrm>
            <a:off x="7445125" y="3504844"/>
            <a:ext cx="3605925" cy="2771264"/>
          </a:xfrm>
          <a:prstGeom prst="rect">
            <a:avLst/>
          </a:prstGeom>
        </p:spPr>
      </p:pic>
    </p:spTree>
    <p:extLst>
      <p:ext uri="{BB962C8B-B14F-4D97-AF65-F5344CB8AC3E}">
        <p14:creationId xmlns:p14="http://schemas.microsoft.com/office/powerpoint/2010/main" val="43172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Arc 2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AE29D3D-9921-A0B5-6346-AE32E23C3F31}"/>
              </a:ext>
            </a:extLst>
          </p:cNvPr>
          <p:cNvSpPr>
            <a:spLocks noGrp="1"/>
          </p:cNvSpPr>
          <p:nvPr>
            <p:ph type="title"/>
          </p:nvPr>
        </p:nvSpPr>
        <p:spPr>
          <a:xfrm>
            <a:off x="5894962" y="479493"/>
            <a:ext cx="5458838" cy="1325563"/>
          </a:xfrm>
        </p:spPr>
        <p:txBody>
          <a:bodyPr>
            <a:normAutofit/>
          </a:bodyPr>
          <a:lstStyle/>
          <a:p>
            <a:r>
              <a:rPr lang="en-US"/>
              <a:t>Test and Results</a:t>
            </a:r>
          </a:p>
        </p:txBody>
      </p:sp>
      <p:sp>
        <p:nvSpPr>
          <p:cNvPr id="23" name="Freeform: Shape 2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60D55A21-79C7-3514-3A85-B0D7BCFA8DDA}"/>
              </a:ext>
            </a:extLst>
          </p:cNvPr>
          <p:cNvPicPr>
            <a:picLocks noChangeAspect="1"/>
          </p:cNvPicPr>
          <p:nvPr/>
        </p:nvPicPr>
        <p:blipFill>
          <a:blip r:embed="rId2"/>
          <a:stretch>
            <a:fillRect/>
          </a:stretch>
        </p:blipFill>
        <p:spPr>
          <a:xfrm>
            <a:off x="703182" y="2119924"/>
            <a:ext cx="4777381" cy="244840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59F02384-FF0F-772F-708D-06DB653711E4}"/>
              </a:ext>
            </a:extLst>
          </p:cNvPr>
          <p:cNvSpPr>
            <a:spLocks noGrp="1"/>
          </p:cNvSpPr>
          <p:nvPr>
            <p:ph idx="1"/>
          </p:nvPr>
        </p:nvSpPr>
        <p:spPr>
          <a:xfrm>
            <a:off x="5894962" y="1984443"/>
            <a:ext cx="5458838" cy="4192520"/>
          </a:xfrm>
        </p:spPr>
        <p:txBody>
          <a:bodyPr>
            <a:normAutofit/>
          </a:bodyPr>
          <a:lstStyle/>
          <a:p>
            <a:pPr marL="0" indent="0">
              <a:buNone/>
            </a:pPr>
            <a:r>
              <a:rPr lang="en-US" sz="1800" b="1" dirty="0">
                <a:latin typeface="Arial" panose="020B0604020202020204" pitchFamily="34" charset="0"/>
                <a:cs typeface="Arial" panose="020B0604020202020204" pitchFamily="34" charset="0"/>
              </a:rPr>
              <a:t>Test Procedure</a:t>
            </a:r>
          </a:p>
          <a:p>
            <a:pPr marL="514350" indent="-514350">
              <a:buFont typeface="+mj-lt"/>
              <a:buAutoNum type="arabicPeriod"/>
            </a:pPr>
            <a:r>
              <a:rPr lang="en-US" sz="1800" dirty="0">
                <a:latin typeface="Arial" panose="020B0604020202020204" pitchFamily="34" charset="0"/>
                <a:cs typeface="Arial" panose="020B0604020202020204" pitchFamily="34" charset="0"/>
              </a:rPr>
              <a:t>The simulation is initiated, and fruits begin appearing on the conveyor belt.</a:t>
            </a:r>
          </a:p>
          <a:p>
            <a:pPr marL="514350" indent="-514350">
              <a:buFont typeface="+mj-lt"/>
              <a:buAutoNum type="arabicPeriod"/>
            </a:pPr>
            <a:r>
              <a:rPr lang="en-US" sz="1800" dirty="0">
                <a:latin typeface="Arial" panose="020B0604020202020204" pitchFamily="34" charset="0"/>
                <a:cs typeface="Arial" panose="020B0604020202020204" pitchFamily="34" charset="0"/>
              </a:rPr>
              <a:t>The robot waits for the distance sensor to trigger.</a:t>
            </a:r>
          </a:p>
          <a:p>
            <a:pPr marL="514350" indent="-514350">
              <a:buFont typeface="+mj-lt"/>
              <a:buAutoNum type="arabicPeriod"/>
            </a:pPr>
            <a:r>
              <a:rPr lang="en-US" sz="1800" dirty="0">
                <a:latin typeface="Arial" panose="020B0604020202020204" pitchFamily="34" charset="0"/>
                <a:cs typeface="Arial" panose="020B0604020202020204" pitchFamily="34" charset="0"/>
              </a:rPr>
              <a:t>Upon detection, the camera identifies the fruit type.</a:t>
            </a:r>
          </a:p>
          <a:p>
            <a:pPr marL="514350" indent="-514350">
              <a:buFont typeface="+mj-lt"/>
              <a:buAutoNum type="arabicPeriod"/>
            </a:pPr>
            <a:r>
              <a:rPr lang="en-US" sz="1800" dirty="0">
                <a:latin typeface="Arial" panose="020B0604020202020204" pitchFamily="34" charset="0"/>
                <a:cs typeface="Arial" panose="020B0604020202020204" pitchFamily="34" charset="0"/>
              </a:rPr>
              <a:t>The arm picks up the fruit and moves to the pre-defined target position (</a:t>
            </a:r>
            <a:r>
              <a:rPr lang="en-US" sz="1800" dirty="0" err="1">
                <a:latin typeface="Arial" panose="020B0604020202020204" pitchFamily="34" charset="0"/>
                <a:cs typeface="Arial" panose="020B0604020202020204" pitchFamily="34" charset="0"/>
              </a:rPr>
              <a:t>target_positions</a:t>
            </a:r>
            <a:r>
              <a:rPr lang="en-US" sz="1800" dirty="0">
                <a:latin typeface="Arial" panose="020B0604020202020204" pitchFamily="34" charset="0"/>
                <a:cs typeface="Arial" panose="020B0604020202020204" pitchFamily="34" charset="0"/>
              </a:rPr>
              <a:t>) corresponding to the fruit type.</a:t>
            </a:r>
          </a:p>
          <a:p>
            <a:pPr marL="514350" indent="-514350">
              <a:buFont typeface="+mj-lt"/>
              <a:buAutoNum type="arabicPeriod"/>
            </a:pPr>
            <a:r>
              <a:rPr lang="en-US" sz="1800" dirty="0">
                <a:latin typeface="Arial" panose="020B0604020202020204" pitchFamily="34" charset="0"/>
                <a:cs typeface="Arial" panose="020B0604020202020204" pitchFamily="34" charset="0"/>
              </a:rPr>
              <a:t>The fruit is dropped into the correct bin (Green for Apples, Orange for Oranges).</a:t>
            </a:r>
          </a:p>
          <a:p>
            <a:pPr marL="514350" indent="-514350">
              <a:buFont typeface="+mj-lt"/>
              <a:buAutoNum type="arabicPeriod"/>
            </a:pPr>
            <a:r>
              <a:rPr lang="en-US" sz="1800" dirty="0">
                <a:latin typeface="Arial" panose="020B0604020202020204" pitchFamily="34" charset="0"/>
                <a:cs typeface="Arial" panose="020B0604020202020204" pitchFamily="34" charset="0"/>
              </a:rPr>
              <a:t>The robot returns to the WAITING position.</a:t>
            </a:r>
          </a:p>
          <a:p>
            <a:endParaRPr lang="en-US" sz="1800" dirty="0"/>
          </a:p>
        </p:txBody>
      </p:sp>
      <p:pic>
        <p:nvPicPr>
          <p:cNvPr id="6" name="Picture 5">
            <a:extLst>
              <a:ext uri="{FF2B5EF4-FFF2-40B4-BE49-F238E27FC236}">
                <a16:creationId xmlns:a16="http://schemas.microsoft.com/office/drawing/2014/main" id="{DE987FC8-4C0B-B528-991B-9BFB341C586D}"/>
              </a:ext>
            </a:extLst>
          </p:cNvPr>
          <p:cNvPicPr>
            <a:picLocks noChangeAspect="1"/>
          </p:cNvPicPr>
          <p:nvPr/>
        </p:nvPicPr>
        <p:blipFill>
          <a:blip r:embed="rId3"/>
          <a:stretch>
            <a:fillRect/>
          </a:stretch>
        </p:blipFill>
        <p:spPr>
          <a:xfrm>
            <a:off x="0" y="452317"/>
            <a:ext cx="2457793" cy="1352739"/>
          </a:xfrm>
          <a:prstGeom prst="rect">
            <a:avLst/>
          </a:prstGeom>
        </p:spPr>
      </p:pic>
      <p:pic>
        <p:nvPicPr>
          <p:cNvPr id="8" name="Picture 7">
            <a:extLst>
              <a:ext uri="{FF2B5EF4-FFF2-40B4-BE49-F238E27FC236}">
                <a16:creationId xmlns:a16="http://schemas.microsoft.com/office/drawing/2014/main" id="{8F118FDD-2CBB-FCE1-3D17-1B2F6D3E4AB5}"/>
              </a:ext>
            </a:extLst>
          </p:cNvPr>
          <p:cNvPicPr>
            <a:picLocks noChangeAspect="1"/>
          </p:cNvPicPr>
          <p:nvPr/>
        </p:nvPicPr>
        <p:blipFill>
          <a:blip r:embed="rId4"/>
          <a:stretch>
            <a:fillRect/>
          </a:stretch>
        </p:blipFill>
        <p:spPr>
          <a:xfrm>
            <a:off x="1036474" y="4726249"/>
            <a:ext cx="2581635" cy="1343212"/>
          </a:xfrm>
          <a:prstGeom prst="rect">
            <a:avLst/>
          </a:prstGeom>
        </p:spPr>
      </p:pic>
    </p:spTree>
    <p:extLst>
      <p:ext uri="{BB962C8B-B14F-4D97-AF65-F5344CB8AC3E}">
        <p14:creationId xmlns:p14="http://schemas.microsoft.com/office/powerpoint/2010/main" val="995916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91EE4A-1F96-7877-BF33-BCE0EC7BA90E}"/>
              </a:ext>
            </a:extLst>
          </p:cNvPr>
          <p:cNvSpPr>
            <a:spLocks noGrp="1"/>
          </p:cNvSpPr>
          <p:nvPr>
            <p:ph type="title"/>
          </p:nvPr>
        </p:nvSpPr>
        <p:spPr>
          <a:xfrm>
            <a:off x="589560" y="856180"/>
            <a:ext cx="4560584" cy="1128068"/>
          </a:xfrm>
        </p:spPr>
        <p:txBody>
          <a:bodyPr anchor="ctr">
            <a:normAutofit/>
          </a:bodyPr>
          <a:lstStyle/>
          <a:p>
            <a:r>
              <a:rPr lang="en-US" sz="4000"/>
              <a:t>Test and Results</a:t>
            </a:r>
          </a:p>
        </p:txBody>
      </p:sp>
      <p:grpSp>
        <p:nvGrpSpPr>
          <p:cNvPr id="24" name="Group 2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5" name="Rectangle 2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5C1E50-F70C-B17D-BAAD-8BE6EB25D60B}"/>
              </a:ext>
            </a:extLst>
          </p:cNvPr>
          <p:cNvSpPr>
            <a:spLocks noGrp="1"/>
          </p:cNvSpPr>
          <p:nvPr>
            <p:ph idx="1"/>
          </p:nvPr>
        </p:nvSpPr>
        <p:spPr>
          <a:xfrm>
            <a:off x="590719" y="2330505"/>
            <a:ext cx="4559425" cy="3979585"/>
          </a:xfrm>
        </p:spPr>
        <p:txBody>
          <a:bodyPr anchor="ctr">
            <a:normAutofit/>
          </a:bodyPr>
          <a:lstStyle/>
          <a:p>
            <a:pPr marL="0" indent="0">
              <a:buNone/>
            </a:pPr>
            <a:r>
              <a:rPr lang="en-US" sz="2000" b="1" dirty="0">
                <a:latin typeface="Arial" panose="020B0604020202020204" pitchFamily="34" charset="0"/>
                <a:cs typeface="Arial" panose="020B0604020202020204" pitchFamily="34" charset="0"/>
              </a:rPr>
              <a:t>Expected Results</a:t>
            </a:r>
          </a:p>
          <a:p>
            <a:pPr>
              <a:buFont typeface="Wingdings" panose="05000000000000000000" pitchFamily="2" charset="2"/>
              <a:buChar char="§"/>
            </a:pPr>
            <a:r>
              <a:rPr lang="en-US" sz="2000" b="1" dirty="0">
                <a:latin typeface="Arial" panose="020B0604020202020204" pitchFamily="34" charset="0"/>
                <a:cs typeface="Arial" panose="020B0604020202020204" pitchFamily="34" charset="0"/>
              </a:rPr>
              <a:t>Accurate Sorting:</a:t>
            </a:r>
            <a:r>
              <a:rPr lang="en-US" sz="2000" dirty="0">
                <a:latin typeface="Arial" panose="020B0604020202020204" pitchFamily="34" charset="0"/>
                <a:cs typeface="Arial" panose="020B0604020202020204" pitchFamily="34" charset="0"/>
              </a:rPr>
              <a:t> The system is expected to correctly place all </a:t>
            </a:r>
            <a:r>
              <a:rPr lang="en-US" sz="2000" b="1" dirty="0">
                <a:latin typeface="Arial" panose="020B0604020202020204" pitchFamily="34" charset="0"/>
                <a:cs typeface="Arial" panose="020B0604020202020204" pitchFamily="34" charset="0"/>
              </a:rPr>
              <a:t>Apples</a:t>
            </a:r>
            <a:r>
              <a:rPr lang="en-US" sz="2000" dirty="0">
                <a:latin typeface="Arial" panose="020B0604020202020204" pitchFamily="34" charset="0"/>
                <a:cs typeface="Arial" panose="020B0604020202020204" pitchFamily="34" charset="0"/>
              </a:rPr>
              <a:t> into one bin and all </a:t>
            </a:r>
            <a:r>
              <a:rPr lang="en-US" sz="2000" b="1" dirty="0">
                <a:latin typeface="Arial" panose="020B0604020202020204" pitchFamily="34" charset="0"/>
                <a:cs typeface="Arial" panose="020B0604020202020204" pitchFamily="34" charset="0"/>
              </a:rPr>
              <a:t>Oranges</a:t>
            </a:r>
            <a:r>
              <a:rPr lang="en-US" sz="2000" dirty="0">
                <a:latin typeface="Arial" panose="020B0604020202020204" pitchFamily="34" charset="0"/>
                <a:cs typeface="Arial" panose="020B0604020202020204" pitchFamily="34" charset="0"/>
              </a:rPr>
              <a:t> into the other.</a:t>
            </a:r>
          </a:p>
          <a:p>
            <a:pPr>
              <a:buFont typeface="Wingdings" panose="05000000000000000000" pitchFamily="2" charset="2"/>
              <a:buChar char="§"/>
            </a:pPr>
            <a:r>
              <a:rPr lang="en-US" sz="2000" b="1" dirty="0">
                <a:latin typeface="Arial" panose="020B0604020202020204" pitchFamily="34" charset="0"/>
                <a:cs typeface="Arial" panose="020B0604020202020204" pitchFamily="34" charset="0"/>
              </a:rPr>
              <a:t>Real-time Counting:</a:t>
            </a:r>
            <a:r>
              <a:rPr lang="en-US" sz="2000" dirty="0">
                <a:latin typeface="Arial" panose="020B0604020202020204" pitchFamily="34" charset="0"/>
                <a:cs typeface="Arial" panose="020B0604020202020204" pitchFamily="34" charset="0"/>
              </a:rPr>
              <a:t> The controller maintains two counters (apple and orange) and displays the sorting result in the simulation window using the supervisor label function:</a:t>
            </a:r>
          </a:p>
          <a:p>
            <a:pPr marL="0" indent="0">
              <a:buNone/>
            </a:pPr>
            <a:r>
              <a:rPr lang="en-US" sz="2000" dirty="0">
                <a:latin typeface="Arial" panose="020B0604020202020204" pitchFamily="34" charset="0"/>
                <a:cs typeface="Arial" panose="020B0604020202020204" pitchFamily="34" charset="0"/>
              </a:rPr>
              <a:t>Apples : [Count] Oranges: [Count]</a:t>
            </a:r>
          </a:p>
          <a:p>
            <a:endParaRPr lang="en-US" sz="2000" dirty="0"/>
          </a:p>
        </p:txBody>
      </p:sp>
      <p:sp>
        <p:nvSpPr>
          <p:cNvPr id="30" name="Rectangle 2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48C4557-DB67-AFB1-8BFD-1E68D2D450E9}"/>
              </a:ext>
            </a:extLst>
          </p:cNvPr>
          <p:cNvPicPr>
            <a:picLocks noChangeAspect="1"/>
          </p:cNvPicPr>
          <p:nvPr/>
        </p:nvPicPr>
        <p:blipFill>
          <a:blip r:embed="rId3"/>
          <a:srcRect l="20687" r="24898" b="2"/>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4162309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D9D64-866B-1811-74D6-1C58127EF6CB}"/>
              </a:ext>
            </a:extLst>
          </p:cNvPr>
          <p:cNvSpPr>
            <a:spLocks noGrp="1"/>
          </p:cNvSpPr>
          <p:nvPr>
            <p:ph type="title"/>
          </p:nvPr>
        </p:nvSpPr>
        <p:spPr>
          <a:xfrm>
            <a:off x="590719" y="823428"/>
            <a:ext cx="4560584" cy="1128068"/>
          </a:xfrm>
        </p:spPr>
        <p:txBody>
          <a:bodyPr anchor="ctr">
            <a:normAutofit/>
          </a:bodyPr>
          <a:lstStyle/>
          <a:p>
            <a:r>
              <a:rPr lang="en-US" sz="4000" dirty="0"/>
              <a:t>Conclusion</a:t>
            </a:r>
          </a:p>
        </p:txBody>
      </p:sp>
      <p:grpSp>
        <p:nvGrpSpPr>
          <p:cNvPr id="40" name="Group 3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41" name="Rectangle 4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5473E7-DF52-D90F-F974-8786806D1FE7}"/>
              </a:ext>
            </a:extLst>
          </p:cNvPr>
          <p:cNvSpPr>
            <a:spLocks noGrp="1"/>
          </p:cNvSpPr>
          <p:nvPr>
            <p:ph idx="1"/>
          </p:nvPr>
        </p:nvSpPr>
        <p:spPr>
          <a:xfrm>
            <a:off x="590719" y="2330505"/>
            <a:ext cx="4987121" cy="4395415"/>
          </a:xfrm>
        </p:spPr>
        <p:txBody>
          <a:bodyPr anchor="ctr">
            <a:normAutofit fontScale="92500" lnSpcReduction="20000"/>
          </a:bodyPr>
          <a:lstStyle/>
          <a:p>
            <a:pPr marL="0" indent="0">
              <a:buNone/>
            </a:pPr>
            <a:r>
              <a:rPr lang="en-US" sz="1500" b="1" dirty="0">
                <a:latin typeface="Arial" panose="020B0604020202020204" pitchFamily="34" charset="0"/>
                <a:cs typeface="Arial" panose="020B0604020202020204" pitchFamily="34" charset="0"/>
              </a:rPr>
              <a:t>Key Achievements</a:t>
            </a:r>
          </a:p>
          <a:p>
            <a:pPr>
              <a:buFont typeface="Wingdings" panose="05000000000000000000" pitchFamily="2" charset="2"/>
              <a:buChar char="Ø"/>
            </a:pPr>
            <a:r>
              <a:rPr lang="en-US" sz="1500" b="1" dirty="0">
                <a:latin typeface="Arial" panose="020B0604020202020204" pitchFamily="34" charset="0"/>
                <a:cs typeface="Arial" panose="020B0604020202020204" pitchFamily="34" charset="0"/>
              </a:rPr>
              <a:t>Robust State Management:</a:t>
            </a:r>
            <a:r>
              <a:rPr lang="en-US" sz="1500" dirty="0">
                <a:latin typeface="Arial" panose="020B0604020202020204" pitchFamily="34" charset="0"/>
                <a:cs typeface="Arial" panose="020B0604020202020204" pitchFamily="34" charset="0"/>
              </a:rPr>
              <a:t> The design utilized a </a:t>
            </a:r>
            <a:r>
              <a:rPr lang="en-US" sz="1500" b="1" dirty="0">
                <a:latin typeface="Arial" panose="020B0604020202020204" pitchFamily="34" charset="0"/>
                <a:cs typeface="Arial" panose="020B0604020202020204" pitchFamily="34" charset="0"/>
              </a:rPr>
              <a:t>Finite State Machine (FSM)</a:t>
            </a:r>
            <a:r>
              <a:rPr lang="en-US" sz="1500" dirty="0">
                <a:latin typeface="Arial" panose="020B0604020202020204" pitchFamily="34" charset="0"/>
                <a:cs typeface="Arial" panose="020B0604020202020204" pitchFamily="34" charset="0"/>
              </a:rPr>
              <a:t> to provide a structured, sequential, and predictable control flow for the </a:t>
            </a:r>
            <a:r>
              <a:rPr lang="en-US" sz="1500" b="1" dirty="0">
                <a:latin typeface="Arial" panose="020B0604020202020204" pitchFamily="34" charset="0"/>
                <a:cs typeface="Arial" panose="020B0604020202020204" pitchFamily="34" charset="0"/>
              </a:rPr>
              <a:t>UR5e</a:t>
            </a:r>
            <a:r>
              <a:rPr lang="en-US" sz="1500" dirty="0">
                <a:latin typeface="Arial" panose="020B0604020202020204" pitchFamily="34" charset="0"/>
                <a:cs typeface="Arial" panose="020B0604020202020204" pitchFamily="34" charset="0"/>
              </a:rPr>
              <a:t> robot arm. This ensures reliable transitions between key operations: </a:t>
            </a:r>
            <a:r>
              <a:rPr lang="en-US" sz="1500" b="1" dirty="0">
                <a:latin typeface="Arial" panose="020B0604020202020204" pitchFamily="34" charset="0"/>
                <a:cs typeface="Arial" panose="020B0604020202020204" pitchFamily="34" charset="0"/>
              </a:rPr>
              <a:t>WAITING</a:t>
            </a:r>
            <a:r>
              <a:rPr lang="en-US" sz="1500" dirty="0">
                <a:latin typeface="Arial" panose="020B0604020202020204" pitchFamily="34" charset="0"/>
                <a:cs typeface="Arial" panose="020B0604020202020204" pitchFamily="34" charset="0"/>
              </a:rPr>
              <a:t>, </a:t>
            </a:r>
            <a:r>
              <a:rPr lang="en-US" sz="1500" b="1" dirty="0">
                <a:latin typeface="Arial" panose="020B0604020202020204" pitchFamily="34" charset="0"/>
                <a:cs typeface="Arial" panose="020B0604020202020204" pitchFamily="34" charset="0"/>
              </a:rPr>
              <a:t>PICKING</a:t>
            </a:r>
            <a:r>
              <a:rPr lang="en-US" sz="1500" dirty="0">
                <a:latin typeface="Arial" panose="020B0604020202020204" pitchFamily="34" charset="0"/>
                <a:cs typeface="Arial" panose="020B0604020202020204" pitchFamily="34" charset="0"/>
              </a:rPr>
              <a:t>, </a:t>
            </a:r>
            <a:r>
              <a:rPr lang="en-US" sz="1500" b="1" dirty="0">
                <a:latin typeface="Arial" panose="020B0604020202020204" pitchFamily="34" charset="0"/>
                <a:cs typeface="Arial" panose="020B0604020202020204" pitchFamily="34" charset="0"/>
              </a:rPr>
              <a:t>ROTATING</a:t>
            </a:r>
            <a:r>
              <a:rPr lang="en-US" sz="1500" dirty="0">
                <a:latin typeface="Arial" panose="020B0604020202020204" pitchFamily="34" charset="0"/>
                <a:cs typeface="Arial" panose="020B0604020202020204" pitchFamily="34" charset="0"/>
              </a:rPr>
              <a:t>, </a:t>
            </a:r>
            <a:r>
              <a:rPr lang="en-US" sz="1500" b="1" dirty="0">
                <a:latin typeface="Arial" panose="020B0604020202020204" pitchFamily="34" charset="0"/>
                <a:cs typeface="Arial" panose="020B0604020202020204" pitchFamily="34" charset="0"/>
              </a:rPr>
              <a:t>DROPPING</a:t>
            </a:r>
            <a:r>
              <a:rPr lang="en-US" sz="1500" dirty="0">
                <a:latin typeface="Arial" panose="020B0604020202020204" pitchFamily="34" charset="0"/>
                <a:cs typeface="Arial" panose="020B0604020202020204" pitchFamily="34" charset="0"/>
              </a:rPr>
              <a:t>, and </a:t>
            </a:r>
            <a:r>
              <a:rPr lang="en-US" sz="1500" b="1" dirty="0">
                <a:latin typeface="Arial" panose="020B0604020202020204" pitchFamily="34" charset="0"/>
                <a:cs typeface="Arial" panose="020B0604020202020204" pitchFamily="34" charset="0"/>
              </a:rPr>
              <a:t>ROTATE_BACK</a:t>
            </a:r>
            <a:r>
              <a:rPr lang="en-US" sz="1500" dirty="0">
                <a:latin typeface="Arial" panose="020B0604020202020204" pitchFamily="34" charset="0"/>
                <a:cs typeface="Arial" panose="020B0604020202020204" pitchFamily="34" charset="0"/>
              </a:rPr>
              <a:t>.</a:t>
            </a:r>
          </a:p>
          <a:p>
            <a:pPr>
              <a:buFont typeface="Wingdings" panose="05000000000000000000" pitchFamily="2" charset="2"/>
              <a:buChar char="Ø"/>
            </a:pPr>
            <a:r>
              <a:rPr lang="en-US" sz="1500" b="1" dirty="0">
                <a:latin typeface="Arial" panose="020B0604020202020204" pitchFamily="34" charset="0"/>
                <a:cs typeface="Arial" panose="020B0604020202020204" pitchFamily="34" charset="0"/>
              </a:rPr>
              <a:t>Sensor Integration:</a:t>
            </a:r>
            <a:r>
              <a:rPr lang="en-US" sz="1500" dirty="0">
                <a:latin typeface="Arial" panose="020B0604020202020204" pitchFamily="34" charset="0"/>
                <a:cs typeface="Arial" panose="020B0604020202020204" pitchFamily="34" charset="0"/>
              </a:rPr>
              <a:t> The system effectively combined two key sensor modalities:</a:t>
            </a:r>
          </a:p>
          <a:p>
            <a:pPr lvl="1">
              <a:buFont typeface="Wingdings" panose="05000000000000000000" pitchFamily="2" charset="2"/>
              <a:buChar char="§"/>
            </a:pPr>
            <a:r>
              <a:rPr lang="en-US" sz="1500" dirty="0">
                <a:latin typeface="Arial" panose="020B0604020202020204" pitchFamily="34" charset="0"/>
                <a:cs typeface="Arial" panose="020B0604020202020204" pitchFamily="34" charset="0"/>
              </a:rPr>
              <a:t>A </a:t>
            </a:r>
            <a:r>
              <a:rPr lang="en-US" sz="1500" b="1" dirty="0">
                <a:latin typeface="Arial" panose="020B0604020202020204" pitchFamily="34" charset="0"/>
                <a:cs typeface="Arial" panose="020B0604020202020204" pitchFamily="34" charset="0"/>
              </a:rPr>
              <a:t>Distance Sensor</a:t>
            </a:r>
            <a:r>
              <a:rPr lang="en-US" sz="1500" dirty="0">
                <a:latin typeface="Arial" panose="020B0604020202020204" pitchFamily="34" charset="0"/>
                <a:cs typeface="Arial" panose="020B0604020202020204" pitchFamily="34" charset="0"/>
              </a:rPr>
              <a:t> for reliable object presence detection, serving as the primary trigger to initiate the sorting sequence.</a:t>
            </a:r>
          </a:p>
          <a:p>
            <a:pPr lvl="1">
              <a:buFont typeface="Wingdings" panose="05000000000000000000" pitchFamily="2" charset="2"/>
              <a:buChar char="§"/>
            </a:pPr>
            <a:r>
              <a:rPr lang="en-US" sz="1500" b="1" dirty="0">
                <a:latin typeface="Arial" panose="020B0604020202020204" pitchFamily="34" charset="0"/>
                <a:cs typeface="Arial" panose="020B0604020202020204" pitchFamily="34" charset="0"/>
              </a:rPr>
              <a:t>Camera Recognition</a:t>
            </a:r>
            <a:r>
              <a:rPr lang="en-US" sz="1500" dirty="0">
                <a:latin typeface="Arial" panose="020B0604020202020204" pitchFamily="34" charset="0"/>
                <a:cs typeface="Arial" panose="020B0604020202020204" pitchFamily="34" charset="0"/>
              </a:rPr>
              <a:t> to accurately identify the object's model (Apple or Orange), which is crucial for determining the correct sorting bin destination.</a:t>
            </a:r>
          </a:p>
          <a:p>
            <a:pPr>
              <a:buFont typeface="Wingdings" panose="05000000000000000000" pitchFamily="2" charset="2"/>
              <a:buChar char="Ø"/>
            </a:pPr>
            <a:r>
              <a:rPr lang="en-US" sz="1500" b="1" dirty="0">
                <a:latin typeface="Arial" panose="020B0604020202020204" pitchFamily="34" charset="0"/>
                <a:cs typeface="Arial" panose="020B0604020202020204" pitchFamily="34" charset="0"/>
              </a:rPr>
              <a:t>Targeted Actuation:</a:t>
            </a:r>
            <a:r>
              <a:rPr lang="en-US" sz="1500" dirty="0">
                <a:latin typeface="Arial" panose="020B0604020202020204" pitchFamily="34" charset="0"/>
                <a:cs typeface="Arial" panose="020B0604020202020204" pitchFamily="34" charset="0"/>
              </a:rPr>
              <a:t> The difference in the motor indexing based on the fruit type successfully generated the distinct </a:t>
            </a:r>
            <a:r>
              <a:rPr lang="en-US" sz="1500" b="1" dirty="0">
                <a:latin typeface="Arial" panose="020B0604020202020204" pitchFamily="34" charset="0"/>
                <a:cs typeface="Arial" panose="020B0604020202020204" pitchFamily="34" charset="0"/>
              </a:rPr>
              <a:t>pick-and-place trajectories</a:t>
            </a:r>
            <a:r>
              <a:rPr lang="en-US" sz="1500" dirty="0">
                <a:latin typeface="Arial" panose="020B0604020202020204" pitchFamily="34" charset="0"/>
                <a:cs typeface="Arial" panose="020B0604020202020204" pitchFamily="34" charset="0"/>
              </a:rPr>
              <a:t> required to deposit fruits into their respective bins.</a:t>
            </a:r>
          </a:p>
          <a:p>
            <a:pPr>
              <a:buFont typeface="Wingdings" panose="05000000000000000000" pitchFamily="2" charset="2"/>
              <a:buChar char="Ø"/>
            </a:pPr>
            <a:r>
              <a:rPr lang="en-US" sz="1500" b="1" dirty="0">
                <a:latin typeface="Arial" panose="020B0604020202020204" pitchFamily="34" charset="0"/>
                <a:cs typeface="Arial" panose="020B0604020202020204" pitchFamily="34" charset="0"/>
              </a:rPr>
              <a:t>Supervisor Control:</a:t>
            </a:r>
            <a:r>
              <a:rPr lang="en-US" sz="1500" dirty="0">
                <a:latin typeface="Arial" panose="020B0604020202020204" pitchFamily="34" charset="0"/>
                <a:cs typeface="Arial" panose="020B0604020202020204" pitchFamily="34" charset="0"/>
              </a:rPr>
              <a:t> The use of the </a:t>
            </a:r>
            <a:r>
              <a:rPr lang="en-US" sz="1500" b="1" dirty="0">
                <a:latin typeface="Arial" panose="020B0604020202020204" pitchFamily="34" charset="0"/>
                <a:cs typeface="Arial" panose="020B0604020202020204" pitchFamily="34" charset="0"/>
              </a:rPr>
              <a:t>Supervisor controller</a:t>
            </a:r>
            <a:r>
              <a:rPr lang="en-US" sz="1500" dirty="0">
                <a:latin typeface="Arial" panose="020B0604020202020204" pitchFamily="34" charset="0"/>
                <a:cs typeface="Arial" panose="020B0604020202020204" pitchFamily="34" charset="0"/>
              </a:rPr>
              <a:t> allowed for continuous and automated fruit generation, creating a dynamic and perpetual testing environment for the sorter.</a:t>
            </a:r>
          </a:p>
          <a:p>
            <a:endParaRPr lang="en-US" sz="1100" dirty="0"/>
          </a:p>
        </p:txBody>
      </p:sp>
      <p:sp>
        <p:nvSpPr>
          <p:cNvPr id="46" name="Rectangle 4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F641822-FCC8-E553-30A4-0C771311B1F5}"/>
              </a:ext>
            </a:extLst>
          </p:cNvPr>
          <p:cNvPicPr>
            <a:picLocks noChangeAspect="1"/>
          </p:cNvPicPr>
          <p:nvPr/>
        </p:nvPicPr>
        <p:blipFill>
          <a:blip r:embed="rId3"/>
          <a:srcRect l="27332" r="18252" b="2"/>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065257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AB33354-5302-409E-90BF-4E7A98AFB5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16E1B1-CEAB-7193-58F7-F9E433B42524}"/>
              </a:ext>
            </a:extLst>
          </p:cNvPr>
          <p:cNvSpPr>
            <a:spLocks noGrp="1"/>
          </p:cNvSpPr>
          <p:nvPr>
            <p:ph type="title"/>
          </p:nvPr>
        </p:nvSpPr>
        <p:spPr>
          <a:xfrm>
            <a:off x="645065" y="1165014"/>
            <a:ext cx="3796306" cy="4666206"/>
          </a:xfrm>
        </p:spPr>
        <p:txBody>
          <a:bodyPr anchor="ctr">
            <a:normAutofit/>
          </a:bodyPr>
          <a:lstStyle/>
          <a:p>
            <a:r>
              <a:rPr lang="en-US" sz="4800" dirty="0"/>
              <a:t>References</a:t>
            </a:r>
          </a:p>
        </p:txBody>
      </p:sp>
      <p:grpSp>
        <p:nvGrpSpPr>
          <p:cNvPr id="10" name="Group 9">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1" name="Rectangle 10">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77BE58-D133-2B48-CAD3-C44CCE450B30}"/>
              </a:ext>
            </a:extLst>
          </p:cNvPr>
          <p:cNvSpPr>
            <a:spLocks noGrp="1"/>
          </p:cNvSpPr>
          <p:nvPr>
            <p:ph idx="1"/>
          </p:nvPr>
        </p:nvSpPr>
        <p:spPr>
          <a:xfrm>
            <a:off x="5577840" y="1165014"/>
            <a:ext cx="5625253" cy="4666206"/>
          </a:xfrm>
        </p:spPr>
        <p:txBody>
          <a:bodyPr anchor="ctr">
            <a:normAutofit/>
          </a:bodyPr>
          <a:lstStyle/>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3"/>
              </a:rPr>
              <a:t>https://cyberbotics.com/doc/reference/nodes-and-api-functions</a:t>
            </a:r>
            <a:endParaRPr lang="en-US" sz="1400" dirty="0">
              <a:latin typeface="Arial" panose="020B0604020202020204" pitchFamily="34" charset="0"/>
              <a:cs typeface="Arial" panose="020B0604020202020204" pitchFamily="34" charset="0"/>
            </a:endParaRPr>
          </a:p>
          <a:p>
            <a:pPr marL="457200" lvl="1" indent="0">
              <a:buNone/>
            </a:pP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4"/>
              </a:rPr>
              <a:t>https://www.cyberbotics.com/doc/guide/using-c</a:t>
            </a: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5"/>
              </a:rPr>
              <a:t>https://cyberbotics.com/doc/guide/controller-programming</a:t>
            </a: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6"/>
              </a:rPr>
              <a:t>https://cyberbotics.com/doc/reference/supervisor</a:t>
            </a: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7"/>
              </a:rPr>
              <a:t>https://cyberbotics.com/doc/guide/supervisor-programming</a:t>
            </a: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8"/>
              </a:rPr>
              <a:t>https://www.cyberbotics.com/doc/guide/ure</a:t>
            </a: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9"/>
              </a:rPr>
              <a:t>https://cyberbotics.com/doc/reference/camera</a:t>
            </a: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1400" dirty="0">
                <a:latin typeface="Arial" panose="020B0604020202020204" pitchFamily="34" charset="0"/>
                <a:cs typeface="Arial" panose="020B0604020202020204" pitchFamily="34" charset="0"/>
                <a:hlinkClick r:id="rId10"/>
              </a:rPr>
              <a:t>https://www.cyberbotics.com/doc/reference/distancesensor</a:t>
            </a:r>
            <a:endParaRPr lang="en-US" sz="1400" dirty="0">
              <a:latin typeface="Arial" panose="020B0604020202020204" pitchFamily="34" charset="0"/>
              <a:cs typeface="Arial" panose="020B0604020202020204" pitchFamily="34" charset="0"/>
            </a:endParaRPr>
          </a:p>
          <a:p>
            <a:endParaRPr lang="en-US" sz="1400" dirty="0"/>
          </a:p>
        </p:txBody>
      </p:sp>
    </p:spTree>
    <p:extLst>
      <p:ext uri="{BB962C8B-B14F-4D97-AF65-F5344CB8AC3E}">
        <p14:creationId xmlns:p14="http://schemas.microsoft.com/office/powerpoint/2010/main" val="171642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1061</TotalTime>
  <Words>3018</Words>
  <Application>Microsoft Office PowerPoint</Application>
  <PresentationFormat>Widescreen</PresentationFormat>
  <Paragraphs>349</Paragraphs>
  <Slides>28</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Aptos Display</vt:lpstr>
      <vt:lpstr>Arial</vt:lpstr>
      <vt:lpstr>Calibri</vt:lpstr>
      <vt:lpstr>Courier New</vt:lpstr>
      <vt:lpstr>Google Sans Text</vt:lpstr>
      <vt:lpstr>Wingdings</vt:lpstr>
      <vt:lpstr>Office Theme</vt:lpstr>
      <vt:lpstr>Industrial Robotic Arm</vt:lpstr>
      <vt:lpstr>Team</vt:lpstr>
      <vt:lpstr>Abstract</vt:lpstr>
      <vt:lpstr>Abstract</vt:lpstr>
      <vt:lpstr>Abstract</vt:lpstr>
      <vt:lpstr>Abstract</vt:lpstr>
      <vt:lpstr>Abstract</vt:lpstr>
      <vt:lpstr>Abstract</vt:lpstr>
      <vt:lpstr>Literature Review</vt:lpstr>
      <vt:lpstr>Literature Review</vt:lpstr>
      <vt:lpstr>Analysis</vt:lpstr>
      <vt:lpstr>Analysis</vt:lpstr>
      <vt:lpstr>Analysis</vt:lpstr>
      <vt:lpstr>Analysis</vt:lpstr>
      <vt:lpstr>Analysis</vt:lpstr>
      <vt:lpstr>Analysis</vt:lpstr>
      <vt:lpstr>Analysis</vt:lpstr>
      <vt:lpstr>Analysis</vt:lpstr>
      <vt:lpstr>Analysis</vt:lpstr>
      <vt:lpstr>Analysis</vt:lpstr>
      <vt:lpstr>Implement &amp; Design</vt:lpstr>
      <vt:lpstr>Implement &amp; Design</vt:lpstr>
      <vt:lpstr>Implement &amp; Design</vt:lpstr>
      <vt:lpstr>Implement &amp; Design</vt:lpstr>
      <vt:lpstr>Test and Results</vt:lpstr>
      <vt:lpstr>Test and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Ghanem</dc:creator>
  <cp:lastModifiedBy>Mohamed Ghanem</cp:lastModifiedBy>
  <cp:revision>4</cp:revision>
  <dcterms:created xsi:type="dcterms:W3CDTF">2025-12-03T14:39:41Z</dcterms:created>
  <dcterms:modified xsi:type="dcterms:W3CDTF">2025-12-07T20:13:00Z</dcterms:modified>
</cp:coreProperties>
</file>